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Default Extension="jpg" ContentType="image/jpg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D24625"/>
                </a:solidFill>
                <a:latin typeface="Segoe UI Light"/>
                <a:cs typeface="Segoe UI Light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D24625"/>
                </a:solidFill>
                <a:latin typeface="Segoe UI Light"/>
                <a:cs typeface="Segoe UI Light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D24625"/>
                </a:solidFill>
                <a:latin typeface="Segoe UI Light"/>
                <a:cs typeface="Segoe UI Light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3470" y="643508"/>
            <a:ext cx="4304322" cy="5570372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0" y="0"/>
            <a:ext cx="165100" cy="6858000"/>
          </a:xfrm>
          <a:custGeom>
            <a:avLst/>
            <a:gdLst/>
            <a:ahLst/>
            <a:cxnLst/>
            <a:rect l="l" t="t" r="r" b="b"/>
            <a:pathLst>
              <a:path w="165100" h="6858000">
                <a:moveTo>
                  <a:pt x="164591" y="0"/>
                </a:moveTo>
                <a:lnTo>
                  <a:pt x="0" y="0"/>
                </a:lnTo>
                <a:lnTo>
                  <a:pt x="0" y="6858000"/>
                </a:lnTo>
                <a:lnTo>
                  <a:pt x="164591" y="6858000"/>
                </a:lnTo>
                <a:lnTo>
                  <a:pt x="164591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4228591" y="620674"/>
            <a:ext cx="7323455" cy="5593715"/>
          </a:xfrm>
          <a:custGeom>
            <a:avLst/>
            <a:gdLst/>
            <a:ahLst/>
            <a:cxnLst/>
            <a:rect l="l" t="t" r="r" b="b"/>
            <a:pathLst>
              <a:path w="7323455" h="5593715">
                <a:moveTo>
                  <a:pt x="7323200" y="0"/>
                </a:moveTo>
                <a:lnTo>
                  <a:pt x="0" y="0"/>
                </a:lnTo>
                <a:lnTo>
                  <a:pt x="0" y="5593207"/>
                </a:lnTo>
                <a:lnTo>
                  <a:pt x="7323200" y="5593207"/>
                </a:lnTo>
                <a:lnTo>
                  <a:pt x="7323200" y="0"/>
                </a:lnTo>
                <a:close/>
              </a:path>
            </a:pathLst>
          </a:custGeom>
          <a:solidFill>
            <a:srgbClr val="1CACE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D24625"/>
                </a:solidFill>
                <a:latin typeface="Segoe UI Light"/>
                <a:cs typeface="Segoe UI Light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4654550" cy="6858000"/>
          </a:xfrm>
          <a:custGeom>
            <a:avLst/>
            <a:gdLst/>
            <a:ahLst/>
            <a:cxnLst/>
            <a:rect l="l" t="t" r="r" b="b"/>
            <a:pathLst>
              <a:path w="4654550" h="6858000">
                <a:moveTo>
                  <a:pt x="4654296" y="0"/>
                </a:moveTo>
                <a:lnTo>
                  <a:pt x="0" y="0"/>
                </a:lnTo>
                <a:lnTo>
                  <a:pt x="0" y="6858000"/>
                </a:lnTo>
                <a:lnTo>
                  <a:pt x="4654296" y="6858000"/>
                </a:lnTo>
                <a:lnTo>
                  <a:pt x="4654296" y="0"/>
                </a:lnTo>
                <a:close/>
              </a:path>
            </a:pathLst>
          </a:custGeom>
          <a:solidFill>
            <a:srgbClr val="1CACE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25252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952500" y="1284732"/>
            <a:ext cx="10363200" cy="0"/>
          </a:xfrm>
          <a:custGeom>
            <a:avLst/>
            <a:gdLst/>
            <a:ahLst/>
            <a:cxnLst/>
            <a:rect l="l" t="t" r="r" b="b"/>
            <a:pathLst>
              <a:path w="10363200" h="0">
                <a:moveTo>
                  <a:pt x="0" y="0"/>
                </a:moveTo>
                <a:lnTo>
                  <a:pt x="10363200" y="0"/>
                </a:lnTo>
              </a:path>
            </a:pathLst>
          </a:custGeom>
          <a:ln w="12700">
            <a:solidFill>
              <a:srgbClr val="A6A6A6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2977" y="547242"/>
            <a:ext cx="6280784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D24625"/>
                </a:solidFill>
                <a:latin typeface="Segoe UI Light"/>
                <a:cs typeface="Segoe UI Light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779267" y="2389632"/>
            <a:ext cx="7056120" cy="40055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davidyslu/USTC-TFC2016" TargetMode="External"/><Relationship Id="rId3" Type="http://schemas.openxmlformats.org/officeDocument/2006/relationships/image" Target="../media/image2.jp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jpg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 descr=""/>
          <p:cNvGrpSpPr/>
          <p:nvPr/>
        </p:nvGrpSpPr>
        <p:grpSpPr>
          <a:xfrm>
            <a:off x="643470" y="0"/>
            <a:ext cx="10908665" cy="6858000"/>
            <a:chOff x="643470" y="0"/>
            <a:chExt cx="10908665" cy="6858000"/>
          </a:xfrm>
        </p:grpSpPr>
        <p:pic>
          <p:nvPicPr>
            <p:cNvPr id="3" name="object 3" descr="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43470" y="643508"/>
              <a:ext cx="4304322" cy="5570372"/>
            </a:xfrm>
            <a:prstGeom prst="rect">
              <a:avLst/>
            </a:prstGeom>
          </p:spPr>
        </p:pic>
        <p:sp>
          <p:nvSpPr>
            <p:cNvPr id="4" name="object 4" descr=""/>
            <p:cNvSpPr/>
            <p:nvPr/>
          </p:nvSpPr>
          <p:spPr>
            <a:xfrm>
              <a:off x="4064000" y="0"/>
              <a:ext cx="165100" cy="6858000"/>
            </a:xfrm>
            <a:custGeom>
              <a:avLst/>
              <a:gdLst/>
              <a:ahLst/>
              <a:cxnLst/>
              <a:rect l="l" t="t" r="r" b="b"/>
              <a:pathLst>
                <a:path w="165100" h="6858000">
                  <a:moveTo>
                    <a:pt x="164591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64591" y="6858000"/>
                  </a:lnTo>
                  <a:lnTo>
                    <a:pt x="164591" y="0"/>
                  </a:lnTo>
                  <a:close/>
                </a:path>
              </a:pathLst>
            </a:custGeom>
            <a:solidFill>
              <a:srgbClr val="25252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 descr=""/>
            <p:cNvSpPr/>
            <p:nvPr/>
          </p:nvSpPr>
          <p:spPr>
            <a:xfrm>
              <a:off x="4228591" y="620674"/>
              <a:ext cx="7323455" cy="5593715"/>
            </a:xfrm>
            <a:custGeom>
              <a:avLst/>
              <a:gdLst/>
              <a:ahLst/>
              <a:cxnLst/>
              <a:rect l="l" t="t" r="r" b="b"/>
              <a:pathLst>
                <a:path w="7323455" h="5593715">
                  <a:moveTo>
                    <a:pt x="7323200" y="0"/>
                  </a:moveTo>
                  <a:lnTo>
                    <a:pt x="0" y="0"/>
                  </a:lnTo>
                  <a:lnTo>
                    <a:pt x="0" y="5593207"/>
                  </a:lnTo>
                  <a:lnTo>
                    <a:pt x="7323200" y="5593207"/>
                  </a:lnTo>
                  <a:lnTo>
                    <a:pt x="7323200" y="0"/>
                  </a:lnTo>
                  <a:close/>
                </a:path>
              </a:pathLst>
            </a:custGeom>
            <a:solidFill>
              <a:srgbClr val="1CACE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4621529" y="909574"/>
            <a:ext cx="6083300" cy="1338580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ts val="5790"/>
              </a:lnSpc>
              <a:spcBef>
                <a:spcPts val="105"/>
              </a:spcBef>
            </a:pPr>
            <a:r>
              <a:rPr dirty="0" sz="5000" spc="75">
                <a:solidFill>
                  <a:srgbClr val="FFFFFF"/>
                </a:solidFill>
                <a:latin typeface="Tw Cen MT Condensed"/>
                <a:cs typeface="Tw Cen MT Condensed"/>
              </a:rPr>
              <a:t>TRAFFICCLIP</a:t>
            </a:r>
            <a:r>
              <a:rPr dirty="0" sz="5000" spc="290">
                <a:solidFill>
                  <a:srgbClr val="FFFFFF"/>
                </a:solidFill>
                <a:latin typeface="Tw Cen MT Condensed"/>
                <a:cs typeface="Tw Cen MT Condensed"/>
              </a:rPr>
              <a:t> </a:t>
            </a:r>
            <a:r>
              <a:rPr dirty="0" sz="5000" spc="45">
                <a:solidFill>
                  <a:srgbClr val="FFFFFF"/>
                </a:solidFill>
                <a:latin typeface="Tw Cen MT Condensed"/>
                <a:cs typeface="Tw Cen MT Condensed"/>
              </a:rPr>
              <a:t>OPTIMIZATION</a:t>
            </a:r>
            <a:endParaRPr sz="5000">
              <a:latin typeface="Tw Cen MT Condensed"/>
              <a:cs typeface="Tw Cen MT Condensed"/>
            </a:endParaRPr>
          </a:p>
          <a:p>
            <a:pPr marL="12700" marR="5080">
              <a:lnSpc>
                <a:spcPct val="80000"/>
              </a:lnSpc>
              <a:spcBef>
                <a:spcPts val="315"/>
              </a:spcBef>
            </a:pPr>
            <a:r>
              <a:rPr dirty="0" sz="2200" spc="75">
                <a:solidFill>
                  <a:srgbClr val="FFFFFF"/>
                </a:solidFill>
                <a:latin typeface="Tw Cen MT Condensed"/>
                <a:cs typeface="Tw Cen MT Condensed"/>
              </a:rPr>
              <a:t>ENCRYPTED</a:t>
            </a:r>
            <a:r>
              <a:rPr dirty="0" sz="2200" spc="240">
                <a:solidFill>
                  <a:srgbClr val="FFFFFF"/>
                </a:solidFill>
                <a:latin typeface="Tw Cen MT Condensed"/>
                <a:cs typeface="Tw Cen MT Condensed"/>
              </a:rPr>
              <a:t> </a:t>
            </a:r>
            <a:r>
              <a:rPr dirty="0" sz="2200" spc="70">
                <a:solidFill>
                  <a:srgbClr val="FFFFFF"/>
                </a:solidFill>
                <a:latin typeface="Tw Cen MT Condensed"/>
                <a:cs typeface="Tw Cen MT Condensed"/>
              </a:rPr>
              <a:t>TRAFFIC</a:t>
            </a:r>
            <a:r>
              <a:rPr dirty="0" sz="2200" spc="235">
                <a:solidFill>
                  <a:srgbClr val="FFFFFF"/>
                </a:solidFill>
                <a:latin typeface="Tw Cen MT Condensed"/>
                <a:cs typeface="Tw Cen MT Condensed"/>
              </a:rPr>
              <a:t> </a:t>
            </a:r>
            <a:r>
              <a:rPr dirty="0" sz="2200" spc="75">
                <a:solidFill>
                  <a:srgbClr val="FFFFFF"/>
                </a:solidFill>
                <a:latin typeface="Tw Cen MT Condensed"/>
                <a:cs typeface="Tw Cen MT Condensed"/>
              </a:rPr>
              <a:t>CLASSIFICATION</a:t>
            </a:r>
            <a:r>
              <a:rPr dirty="0" sz="2200" spc="250">
                <a:solidFill>
                  <a:srgbClr val="FFFFFF"/>
                </a:solidFill>
                <a:latin typeface="Tw Cen MT Condensed"/>
                <a:cs typeface="Tw Cen MT Condensed"/>
              </a:rPr>
              <a:t> </a:t>
            </a:r>
            <a:r>
              <a:rPr dirty="0" sz="2200" spc="60">
                <a:solidFill>
                  <a:srgbClr val="FFFFFF"/>
                </a:solidFill>
                <a:latin typeface="Tw Cen MT Condensed"/>
                <a:cs typeface="Tw Cen MT Condensed"/>
              </a:rPr>
              <a:t>VIA</a:t>
            </a:r>
            <a:r>
              <a:rPr dirty="0" sz="2200" spc="210">
                <a:solidFill>
                  <a:srgbClr val="FFFFFF"/>
                </a:solidFill>
                <a:latin typeface="Tw Cen MT Condensed"/>
                <a:cs typeface="Tw Cen MT Condensed"/>
              </a:rPr>
              <a:t> </a:t>
            </a:r>
            <a:r>
              <a:rPr dirty="0" sz="2200" spc="85">
                <a:solidFill>
                  <a:srgbClr val="FFFFFF"/>
                </a:solidFill>
                <a:latin typeface="Tw Cen MT Condensed"/>
                <a:cs typeface="Tw Cen MT Condensed"/>
              </a:rPr>
              <a:t>MULTI-</a:t>
            </a:r>
            <a:r>
              <a:rPr dirty="0" sz="2200" spc="50">
                <a:solidFill>
                  <a:srgbClr val="FFFFFF"/>
                </a:solidFill>
                <a:latin typeface="Tw Cen MT Condensed"/>
                <a:cs typeface="Tw Cen MT Condensed"/>
              </a:rPr>
              <a:t>MODAL</a:t>
            </a:r>
            <a:r>
              <a:rPr dirty="0" sz="2200" spc="265">
                <a:solidFill>
                  <a:srgbClr val="FFFFFF"/>
                </a:solidFill>
                <a:latin typeface="Tw Cen MT Condensed"/>
                <a:cs typeface="Tw Cen MT Condensed"/>
              </a:rPr>
              <a:t> </a:t>
            </a:r>
            <a:r>
              <a:rPr dirty="0" sz="2200" spc="60">
                <a:solidFill>
                  <a:srgbClr val="FFFFFF"/>
                </a:solidFill>
                <a:latin typeface="Tw Cen MT Condensed"/>
                <a:cs typeface="Tw Cen MT Condensed"/>
              </a:rPr>
              <a:t>SEMANTIC </a:t>
            </a:r>
            <a:r>
              <a:rPr dirty="0" sz="2200" spc="65">
                <a:solidFill>
                  <a:srgbClr val="FFFFFF"/>
                </a:solidFill>
                <a:latin typeface="Tw Cen MT Condensed"/>
                <a:cs typeface="Tw Cen MT Condensed"/>
              </a:rPr>
              <a:t>ALIGNMENT</a:t>
            </a:r>
            <a:endParaRPr sz="2200">
              <a:latin typeface="Tw Cen MT Condensed"/>
              <a:cs typeface="Tw Cen MT Condensed"/>
            </a:endParaRPr>
          </a:p>
        </p:txBody>
      </p:sp>
      <p:sp>
        <p:nvSpPr>
          <p:cNvPr id="7" name="object 7" descr=""/>
          <p:cNvSpPr/>
          <p:nvPr/>
        </p:nvSpPr>
        <p:spPr>
          <a:xfrm>
            <a:off x="4598415" y="2573527"/>
            <a:ext cx="6583680" cy="0"/>
          </a:xfrm>
          <a:custGeom>
            <a:avLst/>
            <a:gdLst/>
            <a:ahLst/>
            <a:cxnLst/>
            <a:rect l="l" t="t" r="r" b="b"/>
            <a:pathLst>
              <a:path w="6583680" h="0">
                <a:moveTo>
                  <a:pt x="0" y="0"/>
                </a:moveTo>
                <a:lnTo>
                  <a:pt x="6583680" y="0"/>
                </a:lnTo>
              </a:path>
            </a:pathLst>
          </a:custGeom>
          <a:ln w="19050">
            <a:solidFill>
              <a:srgbClr val="FFFFFF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 descr=""/>
          <p:cNvSpPr txBox="1"/>
          <p:nvPr/>
        </p:nvSpPr>
        <p:spPr>
          <a:xfrm>
            <a:off x="4672076" y="2618003"/>
            <a:ext cx="1740535" cy="918844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3200"/>
              </a:lnSpc>
              <a:spcBef>
                <a:spcPts val="100"/>
              </a:spcBef>
            </a:pPr>
            <a:r>
              <a:rPr dirty="0" sz="2200">
                <a:solidFill>
                  <a:srgbClr val="FFFFFF"/>
                </a:solidFill>
                <a:latin typeface="Tw Cen MT"/>
                <a:cs typeface="Tw Cen MT"/>
              </a:rPr>
              <a:t>Pramit</a:t>
            </a:r>
            <a:r>
              <a:rPr dirty="0" sz="2200" spc="-65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2200" spc="-25">
                <a:solidFill>
                  <a:srgbClr val="FFFFFF"/>
                </a:solidFill>
                <a:latin typeface="Tw Cen MT"/>
                <a:cs typeface="Tw Cen MT"/>
              </a:rPr>
              <a:t>De </a:t>
            </a:r>
            <a:r>
              <a:rPr dirty="0" sz="2200">
                <a:solidFill>
                  <a:srgbClr val="FFFFFF"/>
                </a:solidFill>
                <a:latin typeface="Tw Cen MT"/>
                <a:cs typeface="Tw Cen MT"/>
              </a:rPr>
              <a:t>February</a:t>
            </a:r>
            <a:r>
              <a:rPr dirty="0" sz="2200" spc="-55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2200" spc="-20">
                <a:solidFill>
                  <a:srgbClr val="FFFFFF"/>
                </a:solidFill>
                <a:latin typeface="Tw Cen MT"/>
                <a:cs typeface="Tw Cen MT"/>
              </a:rPr>
              <a:t>2026</a:t>
            </a:r>
            <a:endParaRPr sz="2200">
              <a:latin typeface="Tw Cen MT"/>
              <a:cs typeface="Tw Cen MT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4672076" y="5433771"/>
            <a:ext cx="4001770" cy="23939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00">
                <a:solidFill>
                  <a:srgbClr val="FFFFFF"/>
                </a:solidFill>
                <a:latin typeface="Tw Cen MT"/>
                <a:cs typeface="Tw Cen MT"/>
              </a:rPr>
              <a:t>GH:</a:t>
            </a:r>
            <a:r>
              <a:rPr dirty="0" sz="1400" spc="-10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1400">
                <a:solidFill>
                  <a:srgbClr val="FFFFFF"/>
                </a:solidFill>
                <a:latin typeface="Tw Cen MT"/>
                <a:cs typeface="Tw Cen MT"/>
              </a:rPr>
              <a:t>Implementation</a:t>
            </a:r>
            <a:r>
              <a:rPr dirty="0" sz="1400" spc="-55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1400">
                <a:solidFill>
                  <a:srgbClr val="FFFFFF"/>
                </a:solidFill>
                <a:latin typeface="Tw Cen MT"/>
                <a:cs typeface="Tw Cen MT"/>
              </a:rPr>
              <a:t>under</a:t>
            </a:r>
            <a:r>
              <a:rPr dirty="0" sz="1400" spc="-25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1400">
                <a:solidFill>
                  <a:srgbClr val="FFFFFF"/>
                </a:solidFill>
                <a:latin typeface="Tw Cen MT"/>
                <a:cs typeface="Tw Cen MT"/>
              </a:rPr>
              <a:t>active</a:t>
            </a:r>
            <a:r>
              <a:rPr dirty="0" sz="1400" spc="-40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1400">
                <a:solidFill>
                  <a:srgbClr val="FFFFFF"/>
                </a:solidFill>
                <a:latin typeface="Tw Cen MT"/>
                <a:cs typeface="Tw Cen MT"/>
              </a:rPr>
              <a:t>research</a:t>
            </a:r>
            <a:r>
              <a:rPr dirty="0" sz="1400" spc="-40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Tw Cen MT"/>
                <a:cs typeface="Tw Cen MT"/>
              </a:rPr>
              <a:t>development.</a:t>
            </a:r>
            <a:endParaRPr sz="1400">
              <a:latin typeface="Tw Cen MT"/>
              <a:cs typeface="Tw Cen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"/>
          <p:cNvSpPr txBox="1"/>
          <p:nvPr/>
        </p:nvSpPr>
        <p:spPr>
          <a:xfrm>
            <a:off x="2278126" y="2923743"/>
            <a:ext cx="1983105" cy="78867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5000" spc="65">
                <a:solidFill>
                  <a:srgbClr val="FFFFFF"/>
                </a:solidFill>
                <a:latin typeface="Tw Cen MT Condensed"/>
                <a:cs typeface="Tw Cen MT Condensed"/>
              </a:rPr>
              <a:t>CONTENTS</a:t>
            </a:r>
            <a:endParaRPr sz="5000">
              <a:latin typeface="Tw Cen MT Condensed"/>
              <a:cs typeface="Tw Cen MT Condensed"/>
            </a:endParaRPr>
          </a:p>
        </p:txBody>
      </p:sp>
      <p:grpSp>
        <p:nvGrpSpPr>
          <p:cNvPr id="3" name="object 3" descr=""/>
          <p:cNvGrpSpPr/>
          <p:nvPr/>
        </p:nvGrpSpPr>
        <p:grpSpPr>
          <a:xfrm>
            <a:off x="5932551" y="1183386"/>
            <a:ext cx="1027430" cy="1027430"/>
            <a:chOff x="5932551" y="1183386"/>
            <a:chExt cx="1027430" cy="1027430"/>
          </a:xfrm>
        </p:grpSpPr>
        <p:sp>
          <p:nvSpPr>
            <p:cNvPr id="4" name="object 4" descr=""/>
            <p:cNvSpPr/>
            <p:nvPr/>
          </p:nvSpPr>
          <p:spPr>
            <a:xfrm>
              <a:off x="5932551" y="1183386"/>
              <a:ext cx="1027430" cy="1027430"/>
            </a:xfrm>
            <a:custGeom>
              <a:avLst/>
              <a:gdLst/>
              <a:ahLst/>
              <a:cxnLst/>
              <a:rect l="l" t="t" r="r" b="b"/>
              <a:pathLst>
                <a:path w="1027429" h="1027430">
                  <a:moveTo>
                    <a:pt x="513588" y="0"/>
                  </a:moveTo>
                  <a:lnTo>
                    <a:pt x="466849" y="2099"/>
                  </a:lnTo>
                  <a:lnTo>
                    <a:pt x="421284" y="8276"/>
                  </a:lnTo>
                  <a:lnTo>
                    <a:pt x="377075" y="18350"/>
                  </a:lnTo>
                  <a:lnTo>
                    <a:pt x="334403" y="32139"/>
                  </a:lnTo>
                  <a:lnTo>
                    <a:pt x="293449" y="49461"/>
                  </a:lnTo>
                  <a:lnTo>
                    <a:pt x="254395" y="70136"/>
                  </a:lnTo>
                  <a:lnTo>
                    <a:pt x="217422" y="93983"/>
                  </a:lnTo>
                  <a:lnTo>
                    <a:pt x="182712" y="120818"/>
                  </a:lnTo>
                  <a:lnTo>
                    <a:pt x="150447" y="150463"/>
                  </a:lnTo>
                  <a:lnTo>
                    <a:pt x="120807" y="182734"/>
                  </a:lnTo>
                  <a:lnTo>
                    <a:pt x="93975" y="217451"/>
                  </a:lnTo>
                  <a:lnTo>
                    <a:pt x="70132" y="254432"/>
                  </a:lnTo>
                  <a:lnTo>
                    <a:pt x="49459" y="293496"/>
                  </a:lnTo>
                  <a:lnTo>
                    <a:pt x="32137" y="334462"/>
                  </a:lnTo>
                  <a:lnTo>
                    <a:pt x="18349" y="377148"/>
                  </a:lnTo>
                  <a:lnTo>
                    <a:pt x="8276" y="421373"/>
                  </a:lnTo>
                  <a:lnTo>
                    <a:pt x="2099" y="466956"/>
                  </a:lnTo>
                  <a:lnTo>
                    <a:pt x="0" y="513714"/>
                  </a:lnTo>
                  <a:lnTo>
                    <a:pt x="2099" y="560453"/>
                  </a:lnTo>
                  <a:lnTo>
                    <a:pt x="8276" y="606018"/>
                  </a:lnTo>
                  <a:lnTo>
                    <a:pt x="18349" y="650227"/>
                  </a:lnTo>
                  <a:lnTo>
                    <a:pt x="32137" y="692899"/>
                  </a:lnTo>
                  <a:lnTo>
                    <a:pt x="49459" y="733853"/>
                  </a:lnTo>
                  <a:lnTo>
                    <a:pt x="70132" y="772907"/>
                  </a:lnTo>
                  <a:lnTo>
                    <a:pt x="93975" y="809880"/>
                  </a:lnTo>
                  <a:lnTo>
                    <a:pt x="120807" y="844590"/>
                  </a:lnTo>
                  <a:lnTo>
                    <a:pt x="150447" y="876855"/>
                  </a:lnTo>
                  <a:lnTo>
                    <a:pt x="182712" y="906495"/>
                  </a:lnTo>
                  <a:lnTo>
                    <a:pt x="217422" y="933327"/>
                  </a:lnTo>
                  <a:lnTo>
                    <a:pt x="254395" y="957170"/>
                  </a:lnTo>
                  <a:lnTo>
                    <a:pt x="293449" y="977843"/>
                  </a:lnTo>
                  <a:lnTo>
                    <a:pt x="334403" y="995165"/>
                  </a:lnTo>
                  <a:lnTo>
                    <a:pt x="377075" y="1008953"/>
                  </a:lnTo>
                  <a:lnTo>
                    <a:pt x="421284" y="1019026"/>
                  </a:lnTo>
                  <a:lnTo>
                    <a:pt x="466849" y="1025203"/>
                  </a:lnTo>
                  <a:lnTo>
                    <a:pt x="513588" y="1027302"/>
                  </a:lnTo>
                  <a:lnTo>
                    <a:pt x="560346" y="1025203"/>
                  </a:lnTo>
                  <a:lnTo>
                    <a:pt x="605929" y="1019026"/>
                  </a:lnTo>
                  <a:lnTo>
                    <a:pt x="650154" y="1008953"/>
                  </a:lnTo>
                  <a:lnTo>
                    <a:pt x="692840" y="995165"/>
                  </a:lnTo>
                  <a:lnTo>
                    <a:pt x="733806" y="977843"/>
                  </a:lnTo>
                  <a:lnTo>
                    <a:pt x="772870" y="957170"/>
                  </a:lnTo>
                  <a:lnTo>
                    <a:pt x="809851" y="933327"/>
                  </a:lnTo>
                  <a:lnTo>
                    <a:pt x="844568" y="906495"/>
                  </a:lnTo>
                  <a:lnTo>
                    <a:pt x="876839" y="876855"/>
                  </a:lnTo>
                  <a:lnTo>
                    <a:pt x="906484" y="844590"/>
                  </a:lnTo>
                  <a:lnTo>
                    <a:pt x="933319" y="809880"/>
                  </a:lnTo>
                  <a:lnTo>
                    <a:pt x="957166" y="772907"/>
                  </a:lnTo>
                  <a:lnTo>
                    <a:pt x="977841" y="733853"/>
                  </a:lnTo>
                  <a:lnTo>
                    <a:pt x="995163" y="692899"/>
                  </a:lnTo>
                  <a:lnTo>
                    <a:pt x="1008952" y="650227"/>
                  </a:lnTo>
                  <a:lnTo>
                    <a:pt x="1019026" y="606018"/>
                  </a:lnTo>
                  <a:lnTo>
                    <a:pt x="1025203" y="560453"/>
                  </a:lnTo>
                  <a:lnTo>
                    <a:pt x="1027302" y="513714"/>
                  </a:lnTo>
                  <a:lnTo>
                    <a:pt x="1025203" y="466956"/>
                  </a:lnTo>
                  <a:lnTo>
                    <a:pt x="1019026" y="421373"/>
                  </a:lnTo>
                  <a:lnTo>
                    <a:pt x="1008952" y="377148"/>
                  </a:lnTo>
                  <a:lnTo>
                    <a:pt x="995163" y="334462"/>
                  </a:lnTo>
                  <a:lnTo>
                    <a:pt x="977841" y="293496"/>
                  </a:lnTo>
                  <a:lnTo>
                    <a:pt x="957166" y="254432"/>
                  </a:lnTo>
                  <a:lnTo>
                    <a:pt x="933319" y="217451"/>
                  </a:lnTo>
                  <a:lnTo>
                    <a:pt x="906484" y="182734"/>
                  </a:lnTo>
                  <a:lnTo>
                    <a:pt x="876839" y="150463"/>
                  </a:lnTo>
                  <a:lnTo>
                    <a:pt x="844568" y="120818"/>
                  </a:lnTo>
                  <a:lnTo>
                    <a:pt x="809851" y="93983"/>
                  </a:lnTo>
                  <a:lnTo>
                    <a:pt x="772870" y="70136"/>
                  </a:lnTo>
                  <a:lnTo>
                    <a:pt x="733806" y="49461"/>
                  </a:lnTo>
                  <a:lnTo>
                    <a:pt x="692840" y="32139"/>
                  </a:lnTo>
                  <a:lnTo>
                    <a:pt x="650154" y="18350"/>
                  </a:lnTo>
                  <a:lnTo>
                    <a:pt x="605929" y="8276"/>
                  </a:lnTo>
                  <a:lnTo>
                    <a:pt x="560346" y="2099"/>
                  </a:lnTo>
                  <a:lnTo>
                    <a:pt x="513588" y="0"/>
                  </a:lnTo>
                  <a:close/>
                </a:path>
              </a:pathLst>
            </a:custGeom>
            <a:solidFill>
              <a:srgbClr val="2583C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 descr=""/>
            <p:cNvSpPr/>
            <p:nvPr/>
          </p:nvSpPr>
          <p:spPr>
            <a:xfrm>
              <a:off x="6258979" y="1455661"/>
              <a:ext cx="376555" cy="485775"/>
            </a:xfrm>
            <a:custGeom>
              <a:avLst/>
              <a:gdLst/>
              <a:ahLst/>
              <a:cxnLst/>
              <a:rect l="l" t="t" r="r" b="b"/>
              <a:pathLst>
                <a:path w="376554" h="485775">
                  <a:moveTo>
                    <a:pt x="127482" y="364007"/>
                  </a:moveTo>
                  <a:lnTo>
                    <a:pt x="78917" y="364007"/>
                  </a:lnTo>
                  <a:lnTo>
                    <a:pt x="78917" y="412597"/>
                  </a:lnTo>
                  <a:lnTo>
                    <a:pt x="127482" y="412597"/>
                  </a:lnTo>
                  <a:lnTo>
                    <a:pt x="127482" y="364007"/>
                  </a:lnTo>
                  <a:close/>
                </a:path>
                <a:path w="376554" h="485775">
                  <a:moveTo>
                    <a:pt x="127482" y="266827"/>
                  </a:moveTo>
                  <a:lnTo>
                    <a:pt x="78917" y="266827"/>
                  </a:lnTo>
                  <a:lnTo>
                    <a:pt x="78917" y="315417"/>
                  </a:lnTo>
                  <a:lnTo>
                    <a:pt x="127482" y="315417"/>
                  </a:lnTo>
                  <a:lnTo>
                    <a:pt x="127482" y="266827"/>
                  </a:lnTo>
                  <a:close/>
                </a:path>
                <a:path w="376554" h="485775">
                  <a:moveTo>
                    <a:pt x="127482" y="169646"/>
                  </a:moveTo>
                  <a:lnTo>
                    <a:pt x="78917" y="169646"/>
                  </a:lnTo>
                  <a:lnTo>
                    <a:pt x="78917" y="218236"/>
                  </a:lnTo>
                  <a:lnTo>
                    <a:pt x="127482" y="218236"/>
                  </a:lnTo>
                  <a:lnTo>
                    <a:pt x="127482" y="169646"/>
                  </a:lnTo>
                  <a:close/>
                </a:path>
                <a:path w="376554" h="485775">
                  <a:moveTo>
                    <a:pt x="127482" y="72478"/>
                  </a:moveTo>
                  <a:lnTo>
                    <a:pt x="78917" y="72478"/>
                  </a:lnTo>
                  <a:lnTo>
                    <a:pt x="78917" y="121056"/>
                  </a:lnTo>
                  <a:lnTo>
                    <a:pt x="127482" y="121056"/>
                  </a:lnTo>
                  <a:lnTo>
                    <a:pt x="127482" y="72478"/>
                  </a:lnTo>
                  <a:close/>
                </a:path>
                <a:path w="376554" h="485775">
                  <a:moveTo>
                    <a:pt x="297446" y="376148"/>
                  </a:moveTo>
                  <a:lnTo>
                    <a:pt x="176047" y="376148"/>
                  </a:lnTo>
                  <a:lnTo>
                    <a:pt x="176047" y="400443"/>
                  </a:lnTo>
                  <a:lnTo>
                    <a:pt x="297446" y="400443"/>
                  </a:lnTo>
                  <a:lnTo>
                    <a:pt x="297446" y="376148"/>
                  </a:lnTo>
                  <a:close/>
                </a:path>
                <a:path w="376554" h="485775">
                  <a:moveTo>
                    <a:pt x="297446" y="278968"/>
                  </a:moveTo>
                  <a:lnTo>
                    <a:pt x="176047" y="278968"/>
                  </a:lnTo>
                  <a:lnTo>
                    <a:pt x="176047" y="303263"/>
                  </a:lnTo>
                  <a:lnTo>
                    <a:pt x="297446" y="303263"/>
                  </a:lnTo>
                  <a:lnTo>
                    <a:pt x="297446" y="278968"/>
                  </a:lnTo>
                  <a:close/>
                </a:path>
                <a:path w="376554" h="485775">
                  <a:moveTo>
                    <a:pt x="297446" y="181800"/>
                  </a:moveTo>
                  <a:lnTo>
                    <a:pt x="176034" y="181800"/>
                  </a:lnTo>
                  <a:lnTo>
                    <a:pt x="176034" y="206095"/>
                  </a:lnTo>
                  <a:lnTo>
                    <a:pt x="297446" y="206095"/>
                  </a:lnTo>
                  <a:lnTo>
                    <a:pt x="297446" y="181800"/>
                  </a:lnTo>
                  <a:close/>
                </a:path>
                <a:path w="376554" h="485775">
                  <a:moveTo>
                    <a:pt x="297446" y="84620"/>
                  </a:moveTo>
                  <a:lnTo>
                    <a:pt x="176034" y="84620"/>
                  </a:lnTo>
                  <a:lnTo>
                    <a:pt x="176034" y="108915"/>
                  </a:lnTo>
                  <a:lnTo>
                    <a:pt x="297446" y="108915"/>
                  </a:lnTo>
                  <a:lnTo>
                    <a:pt x="297446" y="84620"/>
                  </a:lnTo>
                  <a:close/>
                </a:path>
                <a:path w="376554" h="485775">
                  <a:moveTo>
                    <a:pt x="376351" y="0"/>
                  </a:moveTo>
                  <a:lnTo>
                    <a:pt x="0" y="0"/>
                  </a:lnTo>
                  <a:lnTo>
                    <a:pt x="0" y="35572"/>
                  </a:lnTo>
                  <a:lnTo>
                    <a:pt x="0" y="448437"/>
                  </a:lnTo>
                  <a:lnTo>
                    <a:pt x="0" y="485267"/>
                  </a:lnTo>
                  <a:lnTo>
                    <a:pt x="376351" y="485267"/>
                  </a:lnTo>
                  <a:lnTo>
                    <a:pt x="376351" y="449033"/>
                  </a:lnTo>
                  <a:lnTo>
                    <a:pt x="376351" y="448437"/>
                  </a:lnTo>
                  <a:lnTo>
                    <a:pt x="376351" y="36029"/>
                  </a:lnTo>
                  <a:lnTo>
                    <a:pt x="339940" y="36029"/>
                  </a:lnTo>
                  <a:lnTo>
                    <a:pt x="339940" y="448437"/>
                  </a:lnTo>
                  <a:lnTo>
                    <a:pt x="36423" y="448437"/>
                  </a:lnTo>
                  <a:lnTo>
                    <a:pt x="36423" y="35572"/>
                  </a:lnTo>
                  <a:lnTo>
                    <a:pt x="376351" y="35572"/>
                  </a:lnTo>
                  <a:lnTo>
                    <a:pt x="37635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 descr=""/>
          <p:cNvSpPr txBox="1"/>
          <p:nvPr/>
        </p:nvSpPr>
        <p:spPr>
          <a:xfrm>
            <a:off x="5974841" y="2489454"/>
            <a:ext cx="943610" cy="4902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02235">
              <a:lnSpc>
                <a:spcPts val="1830"/>
              </a:lnSpc>
              <a:spcBef>
                <a:spcPts val="95"/>
              </a:spcBef>
            </a:pPr>
            <a:r>
              <a:rPr dirty="0" sz="1600" spc="-10">
                <a:solidFill>
                  <a:srgbClr val="FFFFFF"/>
                </a:solidFill>
                <a:latin typeface="Tw Cen MT"/>
                <a:cs typeface="Tw Cen MT"/>
              </a:rPr>
              <a:t>PROJECT</a:t>
            </a:r>
            <a:endParaRPr sz="1600">
              <a:latin typeface="Tw Cen MT"/>
              <a:cs typeface="Tw Cen MT"/>
            </a:endParaRPr>
          </a:p>
          <a:p>
            <a:pPr marL="12700">
              <a:lnSpc>
                <a:spcPts val="1830"/>
              </a:lnSpc>
            </a:pPr>
            <a:r>
              <a:rPr dirty="0" sz="1600" spc="-10">
                <a:solidFill>
                  <a:srgbClr val="FFFFFF"/>
                </a:solidFill>
                <a:latin typeface="Tw Cen MT"/>
                <a:cs typeface="Tw Cen MT"/>
              </a:rPr>
              <a:t>OVERVIEW</a:t>
            </a:r>
            <a:endParaRPr sz="1600">
              <a:latin typeface="Tw Cen MT"/>
              <a:cs typeface="Tw Cen MT"/>
            </a:endParaRPr>
          </a:p>
        </p:txBody>
      </p:sp>
      <p:grpSp>
        <p:nvGrpSpPr>
          <p:cNvPr id="7" name="object 7" descr=""/>
          <p:cNvGrpSpPr/>
          <p:nvPr/>
        </p:nvGrpSpPr>
        <p:grpSpPr>
          <a:xfrm>
            <a:off x="7911210" y="1183386"/>
            <a:ext cx="1027430" cy="1027430"/>
            <a:chOff x="7911210" y="1183386"/>
            <a:chExt cx="1027430" cy="1027430"/>
          </a:xfrm>
        </p:grpSpPr>
        <p:sp>
          <p:nvSpPr>
            <p:cNvPr id="8" name="object 8" descr=""/>
            <p:cNvSpPr/>
            <p:nvPr/>
          </p:nvSpPr>
          <p:spPr>
            <a:xfrm>
              <a:off x="7911210" y="1183386"/>
              <a:ext cx="1027430" cy="1027430"/>
            </a:xfrm>
            <a:custGeom>
              <a:avLst/>
              <a:gdLst/>
              <a:ahLst/>
              <a:cxnLst/>
              <a:rect l="l" t="t" r="r" b="b"/>
              <a:pathLst>
                <a:path w="1027429" h="1027430">
                  <a:moveTo>
                    <a:pt x="513588" y="0"/>
                  </a:moveTo>
                  <a:lnTo>
                    <a:pt x="466849" y="2099"/>
                  </a:lnTo>
                  <a:lnTo>
                    <a:pt x="421284" y="8276"/>
                  </a:lnTo>
                  <a:lnTo>
                    <a:pt x="377075" y="18350"/>
                  </a:lnTo>
                  <a:lnTo>
                    <a:pt x="334403" y="32139"/>
                  </a:lnTo>
                  <a:lnTo>
                    <a:pt x="293449" y="49461"/>
                  </a:lnTo>
                  <a:lnTo>
                    <a:pt x="254395" y="70136"/>
                  </a:lnTo>
                  <a:lnTo>
                    <a:pt x="217422" y="93983"/>
                  </a:lnTo>
                  <a:lnTo>
                    <a:pt x="182712" y="120818"/>
                  </a:lnTo>
                  <a:lnTo>
                    <a:pt x="150447" y="150463"/>
                  </a:lnTo>
                  <a:lnTo>
                    <a:pt x="120807" y="182734"/>
                  </a:lnTo>
                  <a:lnTo>
                    <a:pt x="93975" y="217451"/>
                  </a:lnTo>
                  <a:lnTo>
                    <a:pt x="70132" y="254432"/>
                  </a:lnTo>
                  <a:lnTo>
                    <a:pt x="49459" y="293496"/>
                  </a:lnTo>
                  <a:lnTo>
                    <a:pt x="32137" y="334462"/>
                  </a:lnTo>
                  <a:lnTo>
                    <a:pt x="18349" y="377148"/>
                  </a:lnTo>
                  <a:lnTo>
                    <a:pt x="8276" y="421373"/>
                  </a:lnTo>
                  <a:lnTo>
                    <a:pt x="2099" y="466956"/>
                  </a:lnTo>
                  <a:lnTo>
                    <a:pt x="0" y="513714"/>
                  </a:lnTo>
                  <a:lnTo>
                    <a:pt x="2099" y="560453"/>
                  </a:lnTo>
                  <a:lnTo>
                    <a:pt x="8276" y="606018"/>
                  </a:lnTo>
                  <a:lnTo>
                    <a:pt x="18349" y="650227"/>
                  </a:lnTo>
                  <a:lnTo>
                    <a:pt x="32137" y="692899"/>
                  </a:lnTo>
                  <a:lnTo>
                    <a:pt x="49459" y="733853"/>
                  </a:lnTo>
                  <a:lnTo>
                    <a:pt x="70132" y="772907"/>
                  </a:lnTo>
                  <a:lnTo>
                    <a:pt x="93975" y="809880"/>
                  </a:lnTo>
                  <a:lnTo>
                    <a:pt x="120807" y="844590"/>
                  </a:lnTo>
                  <a:lnTo>
                    <a:pt x="150447" y="876855"/>
                  </a:lnTo>
                  <a:lnTo>
                    <a:pt x="182712" y="906495"/>
                  </a:lnTo>
                  <a:lnTo>
                    <a:pt x="217422" y="933327"/>
                  </a:lnTo>
                  <a:lnTo>
                    <a:pt x="254395" y="957170"/>
                  </a:lnTo>
                  <a:lnTo>
                    <a:pt x="293449" y="977843"/>
                  </a:lnTo>
                  <a:lnTo>
                    <a:pt x="334403" y="995165"/>
                  </a:lnTo>
                  <a:lnTo>
                    <a:pt x="377075" y="1008953"/>
                  </a:lnTo>
                  <a:lnTo>
                    <a:pt x="421284" y="1019026"/>
                  </a:lnTo>
                  <a:lnTo>
                    <a:pt x="466849" y="1025203"/>
                  </a:lnTo>
                  <a:lnTo>
                    <a:pt x="513588" y="1027302"/>
                  </a:lnTo>
                  <a:lnTo>
                    <a:pt x="560346" y="1025203"/>
                  </a:lnTo>
                  <a:lnTo>
                    <a:pt x="605929" y="1019026"/>
                  </a:lnTo>
                  <a:lnTo>
                    <a:pt x="650154" y="1008953"/>
                  </a:lnTo>
                  <a:lnTo>
                    <a:pt x="692840" y="995165"/>
                  </a:lnTo>
                  <a:lnTo>
                    <a:pt x="733806" y="977843"/>
                  </a:lnTo>
                  <a:lnTo>
                    <a:pt x="772870" y="957170"/>
                  </a:lnTo>
                  <a:lnTo>
                    <a:pt x="809851" y="933327"/>
                  </a:lnTo>
                  <a:lnTo>
                    <a:pt x="844568" y="906495"/>
                  </a:lnTo>
                  <a:lnTo>
                    <a:pt x="876839" y="876855"/>
                  </a:lnTo>
                  <a:lnTo>
                    <a:pt x="906484" y="844590"/>
                  </a:lnTo>
                  <a:lnTo>
                    <a:pt x="933319" y="809880"/>
                  </a:lnTo>
                  <a:lnTo>
                    <a:pt x="957166" y="772907"/>
                  </a:lnTo>
                  <a:lnTo>
                    <a:pt x="977841" y="733853"/>
                  </a:lnTo>
                  <a:lnTo>
                    <a:pt x="995163" y="692899"/>
                  </a:lnTo>
                  <a:lnTo>
                    <a:pt x="1008952" y="650227"/>
                  </a:lnTo>
                  <a:lnTo>
                    <a:pt x="1019026" y="606018"/>
                  </a:lnTo>
                  <a:lnTo>
                    <a:pt x="1025203" y="560453"/>
                  </a:lnTo>
                  <a:lnTo>
                    <a:pt x="1027303" y="513714"/>
                  </a:lnTo>
                  <a:lnTo>
                    <a:pt x="1025203" y="466956"/>
                  </a:lnTo>
                  <a:lnTo>
                    <a:pt x="1019026" y="421373"/>
                  </a:lnTo>
                  <a:lnTo>
                    <a:pt x="1008952" y="377148"/>
                  </a:lnTo>
                  <a:lnTo>
                    <a:pt x="995163" y="334462"/>
                  </a:lnTo>
                  <a:lnTo>
                    <a:pt x="977841" y="293496"/>
                  </a:lnTo>
                  <a:lnTo>
                    <a:pt x="957166" y="254432"/>
                  </a:lnTo>
                  <a:lnTo>
                    <a:pt x="933319" y="217451"/>
                  </a:lnTo>
                  <a:lnTo>
                    <a:pt x="906484" y="182734"/>
                  </a:lnTo>
                  <a:lnTo>
                    <a:pt x="876839" y="150463"/>
                  </a:lnTo>
                  <a:lnTo>
                    <a:pt x="844568" y="120818"/>
                  </a:lnTo>
                  <a:lnTo>
                    <a:pt x="809851" y="93983"/>
                  </a:lnTo>
                  <a:lnTo>
                    <a:pt x="772870" y="70136"/>
                  </a:lnTo>
                  <a:lnTo>
                    <a:pt x="733806" y="49461"/>
                  </a:lnTo>
                  <a:lnTo>
                    <a:pt x="692840" y="32139"/>
                  </a:lnTo>
                  <a:lnTo>
                    <a:pt x="650154" y="18350"/>
                  </a:lnTo>
                  <a:lnTo>
                    <a:pt x="605929" y="8276"/>
                  </a:lnTo>
                  <a:lnTo>
                    <a:pt x="560346" y="2099"/>
                  </a:lnTo>
                  <a:lnTo>
                    <a:pt x="513588" y="0"/>
                  </a:lnTo>
                  <a:close/>
                </a:path>
              </a:pathLst>
            </a:custGeom>
            <a:solidFill>
              <a:srgbClr val="27CE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 descr=""/>
            <p:cNvSpPr/>
            <p:nvPr/>
          </p:nvSpPr>
          <p:spPr>
            <a:xfrm>
              <a:off x="8255851" y="1467395"/>
              <a:ext cx="340360" cy="461645"/>
            </a:xfrm>
            <a:custGeom>
              <a:avLst/>
              <a:gdLst/>
              <a:ahLst/>
              <a:cxnLst/>
              <a:rect l="l" t="t" r="r" b="b"/>
              <a:pathLst>
                <a:path w="340359" h="461644">
                  <a:moveTo>
                    <a:pt x="339940" y="315823"/>
                  </a:moveTo>
                  <a:lnTo>
                    <a:pt x="326529" y="334695"/>
                  </a:lnTo>
                  <a:lnTo>
                    <a:pt x="303517" y="344436"/>
                  </a:lnTo>
                  <a:lnTo>
                    <a:pt x="303517" y="393573"/>
                  </a:lnTo>
                  <a:lnTo>
                    <a:pt x="303517" y="408139"/>
                  </a:lnTo>
                  <a:lnTo>
                    <a:pt x="298653" y="413004"/>
                  </a:lnTo>
                  <a:lnTo>
                    <a:pt x="284086" y="413004"/>
                  </a:lnTo>
                  <a:lnTo>
                    <a:pt x="279234" y="408139"/>
                  </a:lnTo>
                  <a:lnTo>
                    <a:pt x="279234" y="393573"/>
                  </a:lnTo>
                  <a:lnTo>
                    <a:pt x="284086" y="388708"/>
                  </a:lnTo>
                  <a:lnTo>
                    <a:pt x="298653" y="388708"/>
                  </a:lnTo>
                  <a:lnTo>
                    <a:pt x="303517" y="393573"/>
                  </a:lnTo>
                  <a:lnTo>
                    <a:pt x="303517" y="344436"/>
                  </a:lnTo>
                  <a:lnTo>
                    <a:pt x="290004" y="350139"/>
                  </a:lnTo>
                  <a:lnTo>
                    <a:pt x="235966" y="360578"/>
                  </a:lnTo>
                  <a:lnTo>
                    <a:pt x="169964" y="364413"/>
                  </a:lnTo>
                  <a:lnTo>
                    <a:pt x="103974" y="360578"/>
                  </a:lnTo>
                  <a:lnTo>
                    <a:pt x="49936" y="350139"/>
                  </a:lnTo>
                  <a:lnTo>
                    <a:pt x="13411" y="334695"/>
                  </a:lnTo>
                  <a:lnTo>
                    <a:pt x="0" y="315823"/>
                  </a:lnTo>
                  <a:lnTo>
                    <a:pt x="0" y="413004"/>
                  </a:lnTo>
                  <a:lnTo>
                    <a:pt x="13411" y="431863"/>
                  </a:lnTo>
                  <a:lnTo>
                    <a:pt x="49936" y="447319"/>
                  </a:lnTo>
                  <a:lnTo>
                    <a:pt x="103974" y="457758"/>
                  </a:lnTo>
                  <a:lnTo>
                    <a:pt x="169964" y="461594"/>
                  </a:lnTo>
                  <a:lnTo>
                    <a:pt x="235966" y="457758"/>
                  </a:lnTo>
                  <a:lnTo>
                    <a:pt x="290004" y="447319"/>
                  </a:lnTo>
                  <a:lnTo>
                    <a:pt x="326529" y="431863"/>
                  </a:lnTo>
                  <a:lnTo>
                    <a:pt x="339940" y="413004"/>
                  </a:lnTo>
                  <a:lnTo>
                    <a:pt x="339940" y="388708"/>
                  </a:lnTo>
                  <a:lnTo>
                    <a:pt x="339940" y="364413"/>
                  </a:lnTo>
                  <a:lnTo>
                    <a:pt x="339940" y="315823"/>
                  </a:lnTo>
                  <a:close/>
                </a:path>
                <a:path w="340359" h="461644">
                  <a:moveTo>
                    <a:pt x="339940" y="194360"/>
                  </a:moveTo>
                  <a:lnTo>
                    <a:pt x="326529" y="213220"/>
                  </a:lnTo>
                  <a:lnTo>
                    <a:pt x="303517" y="222961"/>
                  </a:lnTo>
                  <a:lnTo>
                    <a:pt x="303517" y="272097"/>
                  </a:lnTo>
                  <a:lnTo>
                    <a:pt x="303517" y="286677"/>
                  </a:lnTo>
                  <a:lnTo>
                    <a:pt x="298653" y="291528"/>
                  </a:lnTo>
                  <a:lnTo>
                    <a:pt x="284086" y="291528"/>
                  </a:lnTo>
                  <a:lnTo>
                    <a:pt x="279234" y="286677"/>
                  </a:lnTo>
                  <a:lnTo>
                    <a:pt x="279234" y="272097"/>
                  </a:lnTo>
                  <a:lnTo>
                    <a:pt x="284086" y="267233"/>
                  </a:lnTo>
                  <a:lnTo>
                    <a:pt x="298653" y="267233"/>
                  </a:lnTo>
                  <a:lnTo>
                    <a:pt x="303517" y="272097"/>
                  </a:lnTo>
                  <a:lnTo>
                    <a:pt x="303517" y="222961"/>
                  </a:lnTo>
                  <a:lnTo>
                    <a:pt x="290004" y="228676"/>
                  </a:lnTo>
                  <a:lnTo>
                    <a:pt x="235966" y="239115"/>
                  </a:lnTo>
                  <a:lnTo>
                    <a:pt x="169964" y="242951"/>
                  </a:lnTo>
                  <a:lnTo>
                    <a:pt x="103974" y="239115"/>
                  </a:lnTo>
                  <a:lnTo>
                    <a:pt x="49936" y="228676"/>
                  </a:lnTo>
                  <a:lnTo>
                    <a:pt x="13411" y="213220"/>
                  </a:lnTo>
                  <a:lnTo>
                    <a:pt x="0" y="194360"/>
                  </a:lnTo>
                  <a:lnTo>
                    <a:pt x="0" y="291528"/>
                  </a:lnTo>
                  <a:lnTo>
                    <a:pt x="13411" y="310400"/>
                  </a:lnTo>
                  <a:lnTo>
                    <a:pt x="49936" y="325843"/>
                  </a:lnTo>
                  <a:lnTo>
                    <a:pt x="103974" y="336283"/>
                  </a:lnTo>
                  <a:lnTo>
                    <a:pt x="169964" y="340118"/>
                  </a:lnTo>
                  <a:lnTo>
                    <a:pt x="235966" y="336283"/>
                  </a:lnTo>
                  <a:lnTo>
                    <a:pt x="290004" y="325843"/>
                  </a:lnTo>
                  <a:lnTo>
                    <a:pt x="326529" y="310400"/>
                  </a:lnTo>
                  <a:lnTo>
                    <a:pt x="339940" y="291528"/>
                  </a:lnTo>
                  <a:lnTo>
                    <a:pt x="339940" y="267233"/>
                  </a:lnTo>
                  <a:lnTo>
                    <a:pt x="339940" y="242951"/>
                  </a:lnTo>
                  <a:lnTo>
                    <a:pt x="339940" y="194360"/>
                  </a:lnTo>
                  <a:close/>
                </a:path>
                <a:path w="340359" h="461644">
                  <a:moveTo>
                    <a:pt x="339940" y="72885"/>
                  </a:moveTo>
                  <a:lnTo>
                    <a:pt x="326529" y="91757"/>
                  </a:lnTo>
                  <a:lnTo>
                    <a:pt x="303517" y="101498"/>
                  </a:lnTo>
                  <a:lnTo>
                    <a:pt x="303517" y="150622"/>
                  </a:lnTo>
                  <a:lnTo>
                    <a:pt x="303517" y="165201"/>
                  </a:lnTo>
                  <a:lnTo>
                    <a:pt x="298653" y="170065"/>
                  </a:lnTo>
                  <a:lnTo>
                    <a:pt x="284086" y="170065"/>
                  </a:lnTo>
                  <a:lnTo>
                    <a:pt x="279234" y="165201"/>
                  </a:lnTo>
                  <a:lnTo>
                    <a:pt x="279234" y="150622"/>
                  </a:lnTo>
                  <a:lnTo>
                    <a:pt x="284086" y="145770"/>
                  </a:lnTo>
                  <a:lnTo>
                    <a:pt x="298653" y="145770"/>
                  </a:lnTo>
                  <a:lnTo>
                    <a:pt x="303517" y="150622"/>
                  </a:lnTo>
                  <a:lnTo>
                    <a:pt x="303517" y="101498"/>
                  </a:lnTo>
                  <a:lnTo>
                    <a:pt x="290004" y="107200"/>
                  </a:lnTo>
                  <a:lnTo>
                    <a:pt x="235966" y="117640"/>
                  </a:lnTo>
                  <a:lnTo>
                    <a:pt x="169964" y="121475"/>
                  </a:lnTo>
                  <a:lnTo>
                    <a:pt x="103974" y="117640"/>
                  </a:lnTo>
                  <a:lnTo>
                    <a:pt x="49936" y="107200"/>
                  </a:lnTo>
                  <a:lnTo>
                    <a:pt x="13411" y="91757"/>
                  </a:lnTo>
                  <a:lnTo>
                    <a:pt x="0" y="72885"/>
                  </a:lnTo>
                  <a:lnTo>
                    <a:pt x="0" y="170065"/>
                  </a:lnTo>
                  <a:lnTo>
                    <a:pt x="13411" y="188925"/>
                  </a:lnTo>
                  <a:lnTo>
                    <a:pt x="49936" y="204381"/>
                  </a:lnTo>
                  <a:lnTo>
                    <a:pt x="103974" y="214820"/>
                  </a:lnTo>
                  <a:lnTo>
                    <a:pt x="169964" y="218655"/>
                  </a:lnTo>
                  <a:lnTo>
                    <a:pt x="235966" y="214820"/>
                  </a:lnTo>
                  <a:lnTo>
                    <a:pt x="290004" y="204381"/>
                  </a:lnTo>
                  <a:lnTo>
                    <a:pt x="326529" y="188925"/>
                  </a:lnTo>
                  <a:lnTo>
                    <a:pt x="339940" y="170065"/>
                  </a:lnTo>
                  <a:lnTo>
                    <a:pt x="339940" y="145770"/>
                  </a:lnTo>
                  <a:lnTo>
                    <a:pt x="339940" y="121475"/>
                  </a:lnTo>
                  <a:lnTo>
                    <a:pt x="339940" y="72885"/>
                  </a:lnTo>
                  <a:close/>
                </a:path>
                <a:path w="340359" h="461644">
                  <a:moveTo>
                    <a:pt x="339940" y="48590"/>
                  </a:moveTo>
                  <a:lnTo>
                    <a:pt x="326580" y="29679"/>
                  </a:lnTo>
                  <a:lnTo>
                    <a:pt x="290156" y="14236"/>
                  </a:lnTo>
                  <a:lnTo>
                    <a:pt x="236131" y="3822"/>
                  </a:lnTo>
                  <a:lnTo>
                    <a:pt x="169964" y="0"/>
                  </a:lnTo>
                  <a:lnTo>
                    <a:pt x="103809" y="3822"/>
                  </a:lnTo>
                  <a:lnTo>
                    <a:pt x="49784" y="14236"/>
                  </a:lnTo>
                  <a:lnTo>
                    <a:pt x="13360" y="29679"/>
                  </a:lnTo>
                  <a:lnTo>
                    <a:pt x="0" y="48590"/>
                  </a:lnTo>
                  <a:lnTo>
                    <a:pt x="13360" y="67500"/>
                  </a:lnTo>
                  <a:lnTo>
                    <a:pt x="49784" y="82943"/>
                  </a:lnTo>
                  <a:lnTo>
                    <a:pt x="103809" y="93357"/>
                  </a:lnTo>
                  <a:lnTo>
                    <a:pt x="169964" y="97180"/>
                  </a:lnTo>
                  <a:lnTo>
                    <a:pt x="236131" y="93357"/>
                  </a:lnTo>
                  <a:lnTo>
                    <a:pt x="290156" y="82943"/>
                  </a:lnTo>
                  <a:lnTo>
                    <a:pt x="326580" y="67500"/>
                  </a:lnTo>
                  <a:lnTo>
                    <a:pt x="339940" y="485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 descr=""/>
          <p:cNvSpPr txBox="1"/>
          <p:nvPr/>
        </p:nvSpPr>
        <p:spPr>
          <a:xfrm>
            <a:off x="7706994" y="2489454"/>
            <a:ext cx="1438910" cy="26924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600" spc="-20">
                <a:solidFill>
                  <a:srgbClr val="FFFFFF"/>
                </a:solidFill>
                <a:latin typeface="Tw Cen MT"/>
                <a:cs typeface="Tw Cen MT"/>
              </a:rPr>
              <a:t>DATA</a:t>
            </a:r>
            <a:r>
              <a:rPr dirty="0" sz="1600" spc="-70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Tw Cen MT"/>
                <a:cs typeface="Tw Cen MT"/>
              </a:rPr>
              <a:t>OVERVIEW</a:t>
            </a:r>
            <a:endParaRPr sz="1600">
              <a:latin typeface="Tw Cen MT"/>
              <a:cs typeface="Tw Cen MT"/>
            </a:endParaRPr>
          </a:p>
        </p:txBody>
      </p:sp>
      <p:grpSp>
        <p:nvGrpSpPr>
          <p:cNvPr id="11" name="object 11" descr=""/>
          <p:cNvGrpSpPr/>
          <p:nvPr/>
        </p:nvGrpSpPr>
        <p:grpSpPr>
          <a:xfrm>
            <a:off x="9889870" y="1183386"/>
            <a:ext cx="1027430" cy="1027430"/>
            <a:chOff x="9889870" y="1183386"/>
            <a:chExt cx="1027430" cy="1027430"/>
          </a:xfrm>
        </p:grpSpPr>
        <p:sp>
          <p:nvSpPr>
            <p:cNvPr id="12" name="object 12" descr=""/>
            <p:cNvSpPr/>
            <p:nvPr/>
          </p:nvSpPr>
          <p:spPr>
            <a:xfrm>
              <a:off x="9889870" y="1183386"/>
              <a:ext cx="1027430" cy="1027430"/>
            </a:xfrm>
            <a:custGeom>
              <a:avLst/>
              <a:gdLst/>
              <a:ahLst/>
              <a:cxnLst/>
              <a:rect l="l" t="t" r="r" b="b"/>
              <a:pathLst>
                <a:path w="1027429" h="1027430">
                  <a:moveTo>
                    <a:pt x="513714" y="0"/>
                  </a:moveTo>
                  <a:lnTo>
                    <a:pt x="466956" y="2099"/>
                  </a:lnTo>
                  <a:lnTo>
                    <a:pt x="421373" y="8276"/>
                  </a:lnTo>
                  <a:lnTo>
                    <a:pt x="377148" y="18350"/>
                  </a:lnTo>
                  <a:lnTo>
                    <a:pt x="334462" y="32139"/>
                  </a:lnTo>
                  <a:lnTo>
                    <a:pt x="293496" y="49461"/>
                  </a:lnTo>
                  <a:lnTo>
                    <a:pt x="254432" y="70136"/>
                  </a:lnTo>
                  <a:lnTo>
                    <a:pt x="217451" y="93983"/>
                  </a:lnTo>
                  <a:lnTo>
                    <a:pt x="182734" y="120818"/>
                  </a:lnTo>
                  <a:lnTo>
                    <a:pt x="150463" y="150463"/>
                  </a:lnTo>
                  <a:lnTo>
                    <a:pt x="120818" y="182734"/>
                  </a:lnTo>
                  <a:lnTo>
                    <a:pt x="93983" y="217451"/>
                  </a:lnTo>
                  <a:lnTo>
                    <a:pt x="70136" y="254432"/>
                  </a:lnTo>
                  <a:lnTo>
                    <a:pt x="49461" y="293496"/>
                  </a:lnTo>
                  <a:lnTo>
                    <a:pt x="32139" y="334462"/>
                  </a:lnTo>
                  <a:lnTo>
                    <a:pt x="18350" y="377148"/>
                  </a:lnTo>
                  <a:lnTo>
                    <a:pt x="8276" y="421373"/>
                  </a:lnTo>
                  <a:lnTo>
                    <a:pt x="2099" y="466956"/>
                  </a:lnTo>
                  <a:lnTo>
                    <a:pt x="0" y="513714"/>
                  </a:lnTo>
                  <a:lnTo>
                    <a:pt x="2099" y="560453"/>
                  </a:lnTo>
                  <a:lnTo>
                    <a:pt x="8276" y="606018"/>
                  </a:lnTo>
                  <a:lnTo>
                    <a:pt x="18350" y="650227"/>
                  </a:lnTo>
                  <a:lnTo>
                    <a:pt x="32139" y="692899"/>
                  </a:lnTo>
                  <a:lnTo>
                    <a:pt x="49461" y="733853"/>
                  </a:lnTo>
                  <a:lnTo>
                    <a:pt x="70136" y="772907"/>
                  </a:lnTo>
                  <a:lnTo>
                    <a:pt x="93983" y="809880"/>
                  </a:lnTo>
                  <a:lnTo>
                    <a:pt x="120818" y="844590"/>
                  </a:lnTo>
                  <a:lnTo>
                    <a:pt x="150463" y="876855"/>
                  </a:lnTo>
                  <a:lnTo>
                    <a:pt x="182734" y="906495"/>
                  </a:lnTo>
                  <a:lnTo>
                    <a:pt x="217451" y="933327"/>
                  </a:lnTo>
                  <a:lnTo>
                    <a:pt x="254432" y="957170"/>
                  </a:lnTo>
                  <a:lnTo>
                    <a:pt x="293496" y="977843"/>
                  </a:lnTo>
                  <a:lnTo>
                    <a:pt x="334462" y="995165"/>
                  </a:lnTo>
                  <a:lnTo>
                    <a:pt x="377148" y="1008953"/>
                  </a:lnTo>
                  <a:lnTo>
                    <a:pt x="421373" y="1019026"/>
                  </a:lnTo>
                  <a:lnTo>
                    <a:pt x="466956" y="1025203"/>
                  </a:lnTo>
                  <a:lnTo>
                    <a:pt x="513714" y="1027302"/>
                  </a:lnTo>
                  <a:lnTo>
                    <a:pt x="560453" y="1025203"/>
                  </a:lnTo>
                  <a:lnTo>
                    <a:pt x="606018" y="1019026"/>
                  </a:lnTo>
                  <a:lnTo>
                    <a:pt x="650227" y="1008953"/>
                  </a:lnTo>
                  <a:lnTo>
                    <a:pt x="692899" y="995165"/>
                  </a:lnTo>
                  <a:lnTo>
                    <a:pt x="733853" y="977843"/>
                  </a:lnTo>
                  <a:lnTo>
                    <a:pt x="772907" y="957170"/>
                  </a:lnTo>
                  <a:lnTo>
                    <a:pt x="809880" y="933327"/>
                  </a:lnTo>
                  <a:lnTo>
                    <a:pt x="844590" y="906495"/>
                  </a:lnTo>
                  <a:lnTo>
                    <a:pt x="876855" y="876855"/>
                  </a:lnTo>
                  <a:lnTo>
                    <a:pt x="906495" y="844590"/>
                  </a:lnTo>
                  <a:lnTo>
                    <a:pt x="933327" y="809880"/>
                  </a:lnTo>
                  <a:lnTo>
                    <a:pt x="957170" y="772907"/>
                  </a:lnTo>
                  <a:lnTo>
                    <a:pt x="977843" y="733853"/>
                  </a:lnTo>
                  <a:lnTo>
                    <a:pt x="995165" y="692899"/>
                  </a:lnTo>
                  <a:lnTo>
                    <a:pt x="1008953" y="650227"/>
                  </a:lnTo>
                  <a:lnTo>
                    <a:pt x="1019026" y="606018"/>
                  </a:lnTo>
                  <a:lnTo>
                    <a:pt x="1025203" y="560453"/>
                  </a:lnTo>
                  <a:lnTo>
                    <a:pt x="1027302" y="513714"/>
                  </a:lnTo>
                  <a:lnTo>
                    <a:pt x="1025203" y="466956"/>
                  </a:lnTo>
                  <a:lnTo>
                    <a:pt x="1019026" y="421373"/>
                  </a:lnTo>
                  <a:lnTo>
                    <a:pt x="1008953" y="377148"/>
                  </a:lnTo>
                  <a:lnTo>
                    <a:pt x="995165" y="334462"/>
                  </a:lnTo>
                  <a:lnTo>
                    <a:pt x="977843" y="293496"/>
                  </a:lnTo>
                  <a:lnTo>
                    <a:pt x="957170" y="254432"/>
                  </a:lnTo>
                  <a:lnTo>
                    <a:pt x="933327" y="217451"/>
                  </a:lnTo>
                  <a:lnTo>
                    <a:pt x="906495" y="182734"/>
                  </a:lnTo>
                  <a:lnTo>
                    <a:pt x="876855" y="150463"/>
                  </a:lnTo>
                  <a:lnTo>
                    <a:pt x="844590" y="120818"/>
                  </a:lnTo>
                  <a:lnTo>
                    <a:pt x="809880" y="93983"/>
                  </a:lnTo>
                  <a:lnTo>
                    <a:pt x="772907" y="70136"/>
                  </a:lnTo>
                  <a:lnTo>
                    <a:pt x="733853" y="49461"/>
                  </a:lnTo>
                  <a:lnTo>
                    <a:pt x="692899" y="32139"/>
                  </a:lnTo>
                  <a:lnTo>
                    <a:pt x="650227" y="18350"/>
                  </a:lnTo>
                  <a:lnTo>
                    <a:pt x="606018" y="8276"/>
                  </a:lnTo>
                  <a:lnTo>
                    <a:pt x="560453" y="2099"/>
                  </a:lnTo>
                  <a:lnTo>
                    <a:pt x="513714" y="0"/>
                  </a:lnTo>
                  <a:close/>
                </a:path>
              </a:pathLst>
            </a:custGeom>
            <a:solidFill>
              <a:srgbClr val="42B99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 descr=""/>
            <p:cNvSpPr/>
            <p:nvPr/>
          </p:nvSpPr>
          <p:spPr>
            <a:xfrm>
              <a:off x="10206596" y="1458289"/>
              <a:ext cx="396240" cy="479425"/>
            </a:xfrm>
            <a:custGeom>
              <a:avLst/>
              <a:gdLst/>
              <a:ahLst/>
              <a:cxnLst/>
              <a:rect l="l" t="t" r="r" b="b"/>
              <a:pathLst>
                <a:path w="396240" h="479425">
                  <a:moveTo>
                    <a:pt x="258584" y="335254"/>
                  </a:moveTo>
                  <a:lnTo>
                    <a:pt x="231876" y="321894"/>
                  </a:lnTo>
                  <a:lnTo>
                    <a:pt x="229933" y="315633"/>
                  </a:lnTo>
                  <a:lnTo>
                    <a:pt x="227698" y="309600"/>
                  </a:lnTo>
                  <a:lnTo>
                    <a:pt x="225615" y="304888"/>
                  </a:lnTo>
                  <a:lnTo>
                    <a:pt x="225132" y="303784"/>
                  </a:lnTo>
                  <a:lnTo>
                    <a:pt x="222161" y="298208"/>
                  </a:lnTo>
                  <a:lnTo>
                    <a:pt x="231876" y="269659"/>
                  </a:lnTo>
                  <a:lnTo>
                    <a:pt x="219735" y="257517"/>
                  </a:lnTo>
                  <a:lnTo>
                    <a:pt x="210019" y="247802"/>
                  </a:lnTo>
                  <a:lnTo>
                    <a:pt x="181495" y="257517"/>
                  </a:lnTo>
                  <a:lnTo>
                    <a:pt x="175831" y="254546"/>
                  </a:lnTo>
                  <a:lnTo>
                    <a:pt x="174815" y="254114"/>
                  </a:lnTo>
                  <a:lnTo>
                    <a:pt x="174815" y="350443"/>
                  </a:lnTo>
                  <a:lnTo>
                    <a:pt x="171284" y="368058"/>
                  </a:lnTo>
                  <a:lnTo>
                    <a:pt x="161620" y="382549"/>
                  </a:lnTo>
                  <a:lnTo>
                    <a:pt x="147154" y="392379"/>
                  </a:lnTo>
                  <a:lnTo>
                    <a:pt x="129286" y="395998"/>
                  </a:lnTo>
                  <a:lnTo>
                    <a:pt x="111417" y="392379"/>
                  </a:lnTo>
                  <a:lnTo>
                    <a:pt x="96964" y="382549"/>
                  </a:lnTo>
                  <a:lnTo>
                    <a:pt x="87287" y="368058"/>
                  </a:lnTo>
                  <a:lnTo>
                    <a:pt x="83769" y="350443"/>
                  </a:lnTo>
                  <a:lnTo>
                    <a:pt x="87325" y="332816"/>
                  </a:lnTo>
                  <a:lnTo>
                    <a:pt x="87376" y="332562"/>
                  </a:lnTo>
                  <a:lnTo>
                    <a:pt x="97193" y="318096"/>
                  </a:lnTo>
                  <a:lnTo>
                    <a:pt x="111556" y="308508"/>
                  </a:lnTo>
                  <a:lnTo>
                    <a:pt x="111252" y="308508"/>
                  </a:lnTo>
                  <a:lnTo>
                    <a:pt x="129286" y="304888"/>
                  </a:lnTo>
                  <a:lnTo>
                    <a:pt x="147154" y="308508"/>
                  </a:lnTo>
                  <a:lnTo>
                    <a:pt x="161620" y="318325"/>
                  </a:lnTo>
                  <a:lnTo>
                    <a:pt x="171284" y="332816"/>
                  </a:lnTo>
                  <a:lnTo>
                    <a:pt x="174815" y="350443"/>
                  </a:lnTo>
                  <a:lnTo>
                    <a:pt x="174815" y="254114"/>
                  </a:lnTo>
                  <a:lnTo>
                    <a:pt x="169887" y="251980"/>
                  </a:lnTo>
                  <a:lnTo>
                    <a:pt x="163830" y="249745"/>
                  </a:lnTo>
                  <a:lnTo>
                    <a:pt x="157822" y="247802"/>
                  </a:lnTo>
                  <a:lnTo>
                    <a:pt x="144462" y="221081"/>
                  </a:lnTo>
                  <a:lnTo>
                    <a:pt x="114109" y="221081"/>
                  </a:lnTo>
                  <a:lnTo>
                    <a:pt x="100761" y="247802"/>
                  </a:lnTo>
                  <a:lnTo>
                    <a:pt x="94500" y="249745"/>
                  </a:lnTo>
                  <a:lnTo>
                    <a:pt x="88468" y="251980"/>
                  </a:lnTo>
                  <a:lnTo>
                    <a:pt x="82664" y="254546"/>
                  </a:lnTo>
                  <a:lnTo>
                    <a:pt x="77089" y="257517"/>
                  </a:lnTo>
                  <a:lnTo>
                    <a:pt x="48552" y="247802"/>
                  </a:lnTo>
                  <a:lnTo>
                    <a:pt x="27317" y="269062"/>
                  </a:lnTo>
                  <a:lnTo>
                    <a:pt x="36423" y="297599"/>
                  </a:lnTo>
                  <a:lnTo>
                    <a:pt x="33451" y="303263"/>
                  </a:lnTo>
                  <a:lnTo>
                    <a:pt x="30873" y="309219"/>
                  </a:lnTo>
                  <a:lnTo>
                    <a:pt x="28651" y="315277"/>
                  </a:lnTo>
                  <a:lnTo>
                    <a:pt x="26708" y="321284"/>
                  </a:lnTo>
                  <a:lnTo>
                    <a:pt x="0" y="334645"/>
                  </a:lnTo>
                  <a:lnTo>
                    <a:pt x="0" y="365023"/>
                  </a:lnTo>
                  <a:lnTo>
                    <a:pt x="26708" y="378383"/>
                  </a:lnTo>
                  <a:lnTo>
                    <a:pt x="28651" y="384644"/>
                  </a:lnTo>
                  <a:lnTo>
                    <a:pt x="30873" y="390677"/>
                  </a:lnTo>
                  <a:lnTo>
                    <a:pt x="33451" y="396481"/>
                  </a:lnTo>
                  <a:lnTo>
                    <a:pt x="36423" y="402069"/>
                  </a:lnTo>
                  <a:lnTo>
                    <a:pt x="27317" y="430606"/>
                  </a:lnTo>
                  <a:lnTo>
                    <a:pt x="48552" y="451866"/>
                  </a:lnTo>
                  <a:lnTo>
                    <a:pt x="77089" y="442760"/>
                  </a:lnTo>
                  <a:lnTo>
                    <a:pt x="82664" y="445731"/>
                  </a:lnTo>
                  <a:lnTo>
                    <a:pt x="88468" y="448297"/>
                  </a:lnTo>
                  <a:lnTo>
                    <a:pt x="94500" y="450532"/>
                  </a:lnTo>
                  <a:lnTo>
                    <a:pt x="100761" y="452475"/>
                  </a:lnTo>
                  <a:lnTo>
                    <a:pt x="114122" y="479196"/>
                  </a:lnTo>
                  <a:lnTo>
                    <a:pt x="144462" y="479196"/>
                  </a:lnTo>
                  <a:lnTo>
                    <a:pt x="157822" y="452475"/>
                  </a:lnTo>
                  <a:lnTo>
                    <a:pt x="164084" y="450532"/>
                  </a:lnTo>
                  <a:lnTo>
                    <a:pt x="170116" y="448297"/>
                  </a:lnTo>
                  <a:lnTo>
                    <a:pt x="175920" y="445731"/>
                  </a:lnTo>
                  <a:lnTo>
                    <a:pt x="181495" y="442760"/>
                  </a:lnTo>
                  <a:lnTo>
                    <a:pt x="210019" y="452475"/>
                  </a:lnTo>
                  <a:lnTo>
                    <a:pt x="219468" y="442760"/>
                  </a:lnTo>
                  <a:lnTo>
                    <a:pt x="231267" y="430606"/>
                  </a:lnTo>
                  <a:lnTo>
                    <a:pt x="222161" y="402678"/>
                  </a:lnTo>
                  <a:lnTo>
                    <a:pt x="225132" y="397090"/>
                  </a:lnTo>
                  <a:lnTo>
                    <a:pt x="225615" y="395998"/>
                  </a:lnTo>
                  <a:lnTo>
                    <a:pt x="227698" y="391287"/>
                  </a:lnTo>
                  <a:lnTo>
                    <a:pt x="229933" y="385254"/>
                  </a:lnTo>
                  <a:lnTo>
                    <a:pt x="231876" y="378993"/>
                  </a:lnTo>
                  <a:lnTo>
                    <a:pt x="258584" y="365620"/>
                  </a:lnTo>
                  <a:lnTo>
                    <a:pt x="258584" y="335254"/>
                  </a:lnTo>
                  <a:close/>
                </a:path>
                <a:path w="396240" h="479425">
                  <a:moveTo>
                    <a:pt x="395770" y="114185"/>
                  </a:moveTo>
                  <a:lnTo>
                    <a:pt x="369062" y="100825"/>
                  </a:lnTo>
                  <a:lnTo>
                    <a:pt x="367118" y="94551"/>
                  </a:lnTo>
                  <a:lnTo>
                    <a:pt x="364883" y="88519"/>
                  </a:lnTo>
                  <a:lnTo>
                    <a:pt x="362800" y="83820"/>
                  </a:lnTo>
                  <a:lnTo>
                    <a:pt x="362318" y="82715"/>
                  </a:lnTo>
                  <a:lnTo>
                    <a:pt x="359346" y="77139"/>
                  </a:lnTo>
                  <a:lnTo>
                    <a:pt x="369062" y="48590"/>
                  </a:lnTo>
                  <a:lnTo>
                    <a:pt x="356920" y="36436"/>
                  </a:lnTo>
                  <a:lnTo>
                    <a:pt x="347205" y="26720"/>
                  </a:lnTo>
                  <a:lnTo>
                    <a:pt x="318681" y="36436"/>
                  </a:lnTo>
                  <a:lnTo>
                    <a:pt x="313105" y="33477"/>
                  </a:lnTo>
                  <a:lnTo>
                    <a:pt x="312000" y="32994"/>
                  </a:lnTo>
                  <a:lnTo>
                    <a:pt x="312000" y="129362"/>
                  </a:lnTo>
                  <a:lnTo>
                    <a:pt x="308394" y="146989"/>
                  </a:lnTo>
                  <a:lnTo>
                    <a:pt x="298577" y="161480"/>
                  </a:lnTo>
                  <a:lnTo>
                    <a:pt x="284086" y="171297"/>
                  </a:lnTo>
                  <a:lnTo>
                    <a:pt x="266471" y="174917"/>
                  </a:lnTo>
                  <a:lnTo>
                    <a:pt x="248602" y="171297"/>
                  </a:lnTo>
                  <a:lnTo>
                    <a:pt x="234149" y="161480"/>
                  </a:lnTo>
                  <a:lnTo>
                    <a:pt x="224485" y="146989"/>
                  </a:lnTo>
                  <a:lnTo>
                    <a:pt x="220954" y="129362"/>
                  </a:lnTo>
                  <a:lnTo>
                    <a:pt x="224561" y="111747"/>
                  </a:lnTo>
                  <a:lnTo>
                    <a:pt x="234378" y="97256"/>
                  </a:lnTo>
                  <a:lnTo>
                    <a:pt x="248869" y="87426"/>
                  </a:lnTo>
                  <a:lnTo>
                    <a:pt x="266471" y="83820"/>
                  </a:lnTo>
                  <a:lnTo>
                    <a:pt x="284340" y="87426"/>
                  </a:lnTo>
                  <a:lnTo>
                    <a:pt x="298805" y="97256"/>
                  </a:lnTo>
                  <a:lnTo>
                    <a:pt x="308470" y="111747"/>
                  </a:lnTo>
                  <a:lnTo>
                    <a:pt x="312000" y="129362"/>
                  </a:lnTo>
                  <a:lnTo>
                    <a:pt x="312000" y="32994"/>
                  </a:lnTo>
                  <a:lnTo>
                    <a:pt x="307301" y="30899"/>
                  </a:lnTo>
                  <a:lnTo>
                    <a:pt x="301269" y="28663"/>
                  </a:lnTo>
                  <a:lnTo>
                    <a:pt x="295008" y="26720"/>
                  </a:lnTo>
                  <a:lnTo>
                    <a:pt x="281647" y="0"/>
                  </a:lnTo>
                  <a:lnTo>
                    <a:pt x="251307" y="0"/>
                  </a:lnTo>
                  <a:lnTo>
                    <a:pt x="237947" y="26720"/>
                  </a:lnTo>
                  <a:lnTo>
                    <a:pt x="231686" y="28663"/>
                  </a:lnTo>
                  <a:lnTo>
                    <a:pt x="225653" y="30899"/>
                  </a:lnTo>
                  <a:lnTo>
                    <a:pt x="219849" y="33477"/>
                  </a:lnTo>
                  <a:lnTo>
                    <a:pt x="214274" y="36436"/>
                  </a:lnTo>
                  <a:lnTo>
                    <a:pt x="185737" y="26720"/>
                  </a:lnTo>
                  <a:lnTo>
                    <a:pt x="163893" y="48590"/>
                  </a:lnTo>
                  <a:lnTo>
                    <a:pt x="173609" y="77139"/>
                  </a:lnTo>
                  <a:lnTo>
                    <a:pt x="170637" y="82715"/>
                  </a:lnTo>
                  <a:lnTo>
                    <a:pt x="168059" y="88519"/>
                  </a:lnTo>
                  <a:lnTo>
                    <a:pt x="165836" y="94551"/>
                  </a:lnTo>
                  <a:lnTo>
                    <a:pt x="163893" y="100825"/>
                  </a:lnTo>
                  <a:lnTo>
                    <a:pt x="137185" y="114185"/>
                  </a:lnTo>
                  <a:lnTo>
                    <a:pt x="137185" y="144551"/>
                  </a:lnTo>
                  <a:lnTo>
                    <a:pt x="163893" y="157911"/>
                  </a:lnTo>
                  <a:lnTo>
                    <a:pt x="165760" y="163918"/>
                  </a:lnTo>
                  <a:lnTo>
                    <a:pt x="165836" y="164172"/>
                  </a:lnTo>
                  <a:lnTo>
                    <a:pt x="167982" y="169976"/>
                  </a:lnTo>
                  <a:lnTo>
                    <a:pt x="168059" y="170205"/>
                  </a:lnTo>
                  <a:lnTo>
                    <a:pt x="170637" y="176022"/>
                  </a:lnTo>
                  <a:lnTo>
                    <a:pt x="173609" y="181597"/>
                  </a:lnTo>
                  <a:lnTo>
                    <a:pt x="163893" y="210146"/>
                  </a:lnTo>
                  <a:lnTo>
                    <a:pt x="185140" y="231406"/>
                  </a:lnTo>
                  <a:lnTo>
                    <a:pt x="213664" y="221678"/>
                  </a:lnTo>
                  <a:lnTo>
                    <a:pt x="219240" y="224650"/>
                  </a:lnTo>
                  <a:lnTo>
                    <a:pt x="225044" y="227228"/>
                  </a:lnTo>
                  <a:lnTo>
                    <a:pt x="231076" y="229450"/>
                  </a:lnTo>
                  <a:lnTo>
                    <a:pt x="237337" y="231406"/>
                  </a:lnTo>
                  <a:lnTo>
                    <a:pt x="250698" y="258127"/>
                  </a:lnTo>
                  <a:lnTo>
                    <a:pt x="281051" y="258127"/>
                  </a:lnTo>
                  <a:lnTo>
                    <a:pt x="294398" y="231406"/>
                  </a:lnTo>
                  <a:lnTo>
                    <a:pt x="300659" y="229450"/>
                  </a:lnTo>
                  <a:lnTo>
                    <a:pt x="306692" y="227228"/>
                  </a:lnTo>
                  <a:lnTo>
                    <a:pt x="312496" y="224650"/>
                  </a:lnTo>
                  <a:lnTo>
                    <a:pt x="318071" y="221678"/>
                  </a:lnTo>
                  <a:lnTo>
                    <a:pt x="346608" y="231406"/>
                  </a:lnTo>
                  <a:lnTo>
                    <a:pt x="356590" y="221678"/>
                  </a:lnTo>
                  <a:lnTo>
                    <a:pt x="368452" y="210146"/>
                  </a:lnTo>
                  <a:lnTo>
                    <a:pt x="358749" y="181597"/>
                  </a:lnTo>
                  <a:lnTo>
                    <a:pt x="361759" y="176022"/>
                  </a:lnTo>
                  <a:lnTo>
                    <a:pt x="362280" y="174917"/>
                  </a:lnTo>
                  <a:lnTo>
                    <a:pt x="364477" y="170205"/>
                  </a:lnTo>
                  <a:lnTo>
                    <a:pt x="364591" y="169976"/>
                  </a:lnTo>
                  <a:lnTo>
                    <a:pt x="366915" y="164172"/>
                  </a:lnTo>
                  <a:lnTo>
                    <a:pt x="367030" y="163918"/>
                  </a:lnTo>
                  <a:lnTo>
                    <a:pt x="369062" y="157911"/>
                  </a:lnTo>
                  <a:lnTo>
                    <a:pt x="395770" y="144551"/>
                  </a:lnTo>
                  <a:lnTo>
                    <a:pt x="395770" y="11418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 descr=""/>
          <p:cNvSpPr txBox="1"/>
          <p:nvPr/>
        </p:nvSpPr>
        <p:spPr>
          <a:xfrm>
            <a:off x="9579102" y="2489454"/>
            <a:ext cx="1651000" cy="4902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algn="ctr">
              <a:lnSpc>
                <a:spcPts val="1830"/>
              </a:lnSpc>
              <a:spcBef>
                <a:spcPts val="95"/>
              </a:spcBef>
            </a:pPr>
            <a:r>
              <a:rPr dirty="0" sz="1600" spc="-20">
                <a:solidFill>
                  <a:srgbClr val="FFFFFF"/>
                </a:solidFill>
                <a:latin typeface="Tw Cen MT"/>
                <a:cs typeface="Tw Cen MT"/>
              </a:rPr>
              <a:t>DATA</a:t>
            </a:r>
            <a:r>
              <a:rPr dirty="0" sz="1600" spc="-70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Tw Cen MT"/>
                <a:cs typeface="Tw Cen MT"/>
              </a:rPr>
              <a:t>ACQUISITION</a:t>
            </a:r>
            <a:endParaRPr sz="1600">
              <a:latin typeface="Tw Cen MT"/>
              <a:cs typeface="Tw Cen MT"/>
            </a:endParaRPr>
          </a:p>
          <a:p>
            <a:pPr algn="ctr">
              <a:lnSpc>
                <a:spcPts val="1830"/>
              </a:lnSpc>
            </a:pPr>
            <a:r>
              <a:rPr dirty="0" sz="1600">
                <a:solidFill>
                  <a:srgbClr val="FFFFFF"/>
                </a:solidFill>
                <a:latin typeface="Tw Cen MT"/>
                <a:cs typeface="Tw Cen MT"/>
              </a:rPr>
              <a:t>&amp;</a:t>
            </a:r>
            <a:r>
              <a:rPr dirty="0" sz="1600" spc="-5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Tw Cen MT"/>
                <a:cs typeface="Tw Cen MT"/>
              </a:rPr>
              <a:t>PROCESSING</a:t>
            </a:r>
            <a:endParaRPr sz="1600">
              <a:latin typeface="Tw Cen MT"/>
              <a:cs typeface="Tw Cen MT"/>
            </a:endParaRPr>
          </a:p>
        </p:txBody>
      </p:sp>
      <p:grpSp>
        <p:nvGrpSpPr>
          <p:cNvPr id="15" name="object 15" descr=""/>
          <p:cNvGrpSpPr/>
          <p:nvPr/>
        </p:nvGrpSpPr>
        <p:grpSpPr>
          <a:xfrm>
            <a:off x="6921881" y="3625215"/>
            <a:ext cx="1027430" cy="1027430"/>
            <a:chOff x="6921881" y="3625215"/>
            <a:chExt cx="1027430" cy="1027430"/>
          </a:xfrm>
        </p:grpSpPr>
        <p:sp>
          <p:nvSpPr>
            <p:cNvPr id="16" name="object 16" descr=""/>
            <p:cNvSpPr/>
            <p:nvPr/>
          </p:nvSpPr>
          <p:spPr>
            <a:xfrm>
              <a:off x="6921881" y="3625215"/>
              <a:ext cx="1027430" cy="1027430"/>
            </a:xfrm>
            <a:custGeom>
              <a:avLst/>
              <a:gdLst/>
              <a:ahLst/>
              <a:cxnLst/>
              <a:rect l="l" t="t" r="r" b="b"/>
              <a:pathLst>
                <a:path w="1027429" h="1027429">
                  <a:moveTo>
                    <a:pt x="513588" y="0"/>
                  </a:moveTo>
                  <a:lnTo>
                    <a:pt x="466849" y="2099"/>
                  </a:lnTo>
                  <a:lnTo>
                    <a:pt x="421284" y="8276"/>
                  </a:lnTo>
                  <a:lnTo>
                    <a:pt x="377075" y="18349"/>
                  </a:lnTo>
                  <a:lnTo>
                    <a:pt x="334403" y="32137"/>
                  </a:lnTo>
                  <a:lnTo>
                    <a:pt x="293449" y="49459"/>
                  </a:lnTo>
                  <a:lnTo>
                    <a:pt x="254395" y="70132"/>
                  </a:lnTo>
                  <a:lnTo>
                    <a:pt x="217422" y="93975"/>
                  </a:lnTo>
                  <a:lnTo>
                    <a:pt x="182712" y="120807"/>
                  </a:lnTo>
                  <a:lnTo>
                    <a:pt x="150447" y="150447"/>
                  </a:lnTo>
                  <a:lnTo>
                    <a:pt x="120807" y="182712"/>
                  </a:lnTo>
                  <a:lnTo>
                    <a:pt x="93975" y="217422"/>
                  </a:lnTo>
                  <a:lnTo>
                    <a:pt x="70132" y="254395"/>
                  </a:lnTo>
                  <a:lnTo>
                    <a:pt x="49459" y="293449"/>
                  </a:lnTo>
                  <a:lnTo>
                    <a:pt x="32137" y="334403"/>
                  </a:lnTo>
                  <a:lnTo>
                    <a:pt x="18349" y="377075"/>
                  </a:lnTo>
                  <a:lnTo>
                    <a:pt x="8276" y="421284"/>
                  </a:lnTo>
                  <a:lnTo>
                    <a:pt x="2099" y="466849"/>
                  </a:lnTo>
                  <a:lnTo>
                    <a:pt x="0" y="513588"/>
                  </a:lnTo>
                  <a:lnTo>
                    <a:pt x="2099" y="560345"/>
                  </a:lnTo>
                  <a:lnTo>
                    <a:pt x="8276" y="605924"/>
                  </a:lnTo>
                  <a:lnTo>
                    <a:pt x="18349" y="650144"/>
                  </a:lnTo>
                  <a:lnTo>
                    <a:pt x="32137" y="692824"/>
                  </a:lnTo>
                  <a:lnTo>
                    <a:pt x="49459" y="733782"/>
                  </a:lnTo>
                  <a:lnTo>
                    <a:pt x="70132" y="772837"/>
                  </a:lnTo>
                  <a:lnTo>
                    <a:pt x="93975" y="809808"/>
                  </a:lnTo>
                  <a:lnTo>
                    <a:pt x="120807" y="844515"/>
                  </a:lnTo>
                  <a:lnTo>
                    <a:pt x="150447" y="876776"/>
                  </a:lnTo>
                  <a:lnTo>
                    <a:pt x="182712" y="906409"/>
                  </a:lnTo>
                  <a:lnTo>
                    <a:pt x="217422" y="933235"/>
                  </a:lnTo>
                  <a:lnTo>
                    <a:pt x="254395" y="957072"/>
                  </a:lnTo>
                  <a:lnTo>
                    <a:pt x="293449" y="977738"/>
                  </a:lnTo>
                  <a:lnTo>
                    <a:pt x="334403" y="995052"/>
                  </a:lnTo>
                  <a:lnTo>
                    <a:pt x="377075" y="1008835"/>
                  </a:lnTo>
                  <a:lnTo>
                    <a:pt x="421284" y="1018903"/>
                  </a:lnTo>
                  <a:lnTo>
                    <a:pt x="466849" y="1025077"/>
                  </a:lnTo>
                  <a:lnTo>
                    <a:pt x="513588" y="1027176"/>
                  </a:lnTo>
                  <a:lnTo>
                    <a:pt x="560346" y="1025077"/>
                  </a:lnTo>
                  <a:lnTo>
                    <a:pt x="605929" y="1018903"/>
                  </a:lnTo>
                  <a:lnTo>
                    <a:pt x="650154" y="1008835"/>
                  </a:lnTo>
                  <a:lnTo>
                    <a:pt x="692840" y="995052"/>
                  </a:lnTo>
                  <a:lnTo>
                    <a:pt x="733806" y="977738"/>
                  </a:lnTo>
                  <a:lnTo>
                    <a:pt x="772870" y="957071"/>
                  </a:lnTo>
                  <a:lnTo>
                    <a:pt x="809851" y="933235"/>
                  </a:lnTo>
                  <a:lnTo>
                    <a:pt x="844568" y="906409"/>
                  </a:lnTo>
                  <a:lnTo>
                    <a:pt x="876839" y="876776"/>
                  </a:lnTo>
                  <a:lnTo>
                    <a:pt x="906484" y="844515"/>
                  </a:lnTo>
                  <a:lnTo>
                    <a:pt x="933319" y="809808"/>
                  </a:lnTo>
                  <a:lnTo>
                    <a:pt x="957166" y="772837"/>
                  </a:lnTo>
                  <a:lnTo>
                    <a:pt x="977841" y="733782"/>
                  </a:lnTo>
                  <a:lnTo>
                    <a:pt x="995163" y="692824"/>
                  </a:lnTo>
                  <a:lnTo>
                    <a:pt x="1008952" y="650144"/>
                  </a:lnTo>
                  <a:lnTo>
                    <a:pt x="1019026" y="605924"/>
                  </a:lnTo>
                  <a:lnTo>
                    <a:pt x="1025203" y="560345"/>
                  </a:lnTo>
                  <a:lnTo>
                    <a:pt x="1027302" y="513588"/>
                  </a:lnTo>
                  <a:lnTo>
                    <a:pt x="1025203" y="466849"/>
                  </a:lnTo>
                  <a:lnTo>
                    <a:pt x="1019026" y="421284"/>
                  </a:lnTo>
                  <a:lnTo>
                    <a:pt x="1008952" y="377075"/>
                  </a:lnTo>
                  <a:lnTo>
                    <a:pt x="995163" y="334403"/>
                  </a:lnTo>
                  <a:lnTo>
                    <a:pt x="977841" y="293449"/>
                  </a:lnTo>
                  <a:lnTo>
                    <a:pt x="957166" y="254395"/>
                  </a:lnTo>
                  <a:lnTo>
                    <a:pt x="933319" y="217422"/>
                  </a:lnTo>
                  <a:lnTo>
                    <a:pt x="906484" y="182712"/>
                  </a:lnTo>
                  <a:lnTo>
                    <a:pt x="876839" y="150447"/>
                  </a:lnTo>
                  <a:lnTo>
                    <a:pt x="844568" y="120807"/>
                  </a:lnTo>
                  <a:lnTo>
                    <a:pt x="809851" y="93975"/>
                  </a:lnTo>
                  <a:lnTo>
                    <a:pt x="772870" y="70132"/>
                  </a:lnTo>
                  <a:lnTo>
                    <a:pt x="733806" y="49459"/>
                  </a:lnTo>
                  <a:lnTo>
                    <a:pt x="692840" y="32137"/>
                  </a:lnTo>
                  <a:lnTo>
                    <a:pt x="650154" y="18349"/>
                  </a:lnTo>
                  <a:lnTo>
                    <a:pt x="605929" y="8276"/>
                  </a:lnTo>
                  <a:lnTo>
                    <a:pt x="560346" y="2099"/>
                  </a:lnTo>
                  <a:lnTo>
                    <a:pt x="513588" y="0"/>
                  </a:lnTo>
                  <a:close/>
                </a:path>
              </a:pathLst>
            </a:custGeom>
            <a:solidFill>
              <a:srgbClr val="3D875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 descr=""/>
            <p:cNvSpPr/>
            <p:nvPr/>
          </p:nvSpPr>
          <p:spPr>
            <a:xfrm>
              <a:off x="7230110" y="3882504"/>
              <a:ext cx="412750" cy="490220"/>
            </a:xfrm>
            <a:custGeom>
              <a:avLst/>
              <a:gdLst/>
              <a:ahLst/>
              <a:cxnLst/>
              <a:rect l="l" t="t" r="r" b="b"/>
              <a:pathLst>
                <a:path w="412750" h="490220">
                  <a:moveTo>
                    <a:pt x="149923" y="234442"/>
                  </a:moveTo>
                  <a:lnTo>
                    <a:pt x="147929" y="224510"/>
                  </a:lnTo>
                  <a:lnTo>
                    <a:pt x="142455" y="216395"/>
                  </a:lnTo>
                  <a:lnTo>
                    <a:pt x="134353" y="210934"/>
                  </a:lnTo>
                  <a:lnTo>
                    <a:pt x="124434" y="208927"/>
                  </a:lnTo>
                  <a:lnTo>
                    <a:pt x="114503" y="210934"/>
                  </a:lnTo>
                  <a:lnTo>
                    <a:pt x="106400" y="216395"/>
                  </a:lnTo>
                  <a:lnTo>
                    <a:pt x="100939" y="224510"/>
                  </a:lnTo>
                  <a:lnTo>
                    <a:pt x="98933" y="234442"/>
                  </a:lnTo>
                  <a:lnTo>
                    <a:pt x="100939" y="244373"/>
                  </a:lnTo>
                  <a:lnTo>
                    <a:pt x="106400" y="252476"/>
                  </a:lnTo>
                  <a:lnTo>
                    <a:pt x="114503" y="257949"/>
                  </a:lnTo>
                  <a:lnTo>
                    <a:pt x="124434" y="259943"/>
                  </a:lnTo>
                  <a:lnTo>
                    <a:pt x="134353" y="257949"/>
                  </a:lnTo>
                  <a:lnTo>
                    <a:pt x="142455" y="252476"/>
                  </a:lnTo>
                  <a:lnTo>
                    <a:pt x="147929" y="244373"/>
                  </a:lnTo>
                  <a:lnTo>
                    <a:pt x="149923" y="234442"/>
                  </a:lnTo>
                  <a:close/>
                </a:path>
                <a:path w="412750" h="490220">
                  <a:moveTo>
                    <a:pt x="226415" y="111150"/>
                  </a:moveTo>
                  <a:lnTo>
                    <a:pt x="224396" y="101269"/>
                  </a:lnTo>
                  <a:lnTo>
                    <a:pt x="218897" y="93154"/>
                  </a:lnTo>
                  <a:lnTo>
                    <a:pt x="210794" y="87655"/>
                  </a:lnTo>
                  <a:lnTo>
                    <a:pt x="200914" y="85636"/>
                  </a:lnTo>
                  <a:lnTo>
                    <a:pt x="191046" y="87655"/>
                  </a:lnTo>
                  <a:lnTo>
                    <a:pt x="182930" y="93154"/>
                  </a:lnTo>
                  <a:lnTo>
                    <a:pt x="177444" y="101269"/>
                  </a:lnTo>
                  <a:lnTo>
                    <a:pt x="175425" y="111150"/>
                  </a:lnTo>
                  <a:lnTo>
                    <a:pt x="177444" y="121031"/>
                  </a:lnTo>
                  <a:lnTo>
                    <a:pt x="182930" y="129133"/>
                  </a:lnTo>
                  <a:lnTo>
                    <a:pt x="191046" y="134632"/>
                  </a:lnTo>
                  <a:lnTo>
                    <a:pt x="200914" y="136652"/>
                  </a:lnTo>
                  <a:lnTo>
                    <a:pt x="210794" y="134632"/>
                  </a:lnTo>
                  <a:lnTo>
                    <a:pt x="218897" y="129133"/>
                  </a:lnTo>
                  <a:lnTo>
                    <a:pt x="224396" y="121031"/>
                  </a:lnTo>
                  <a:lnTo>
                    <a:pt x="226415" y="111150"/>
                  </a:lnTo>
                  <a:close/>
                </a:path>
                <a:path w="412750" h="490220">
                  <a:moveTo>
                    <a:pt x="412686" y="281279"/>
                  </a:moveTo>
                  <a:lnTo>
                    <a:pt x="406692" y="265417"/>
                  </a:lnTo>
                  <a:lnTo>
                    <a:pt x="364807" y="192532"/>
                  </a:lnTo>
                  <a:lnTo>
                    <a:pt x="364693" y="188277"/>
                  </a:lnTo>
                  <a:lnTo>
                    <a:pt x="364159" y="182816"/>
                  </a:lnTo>
                  <a:lnTo>
                    <a:pt x="362724" y="168236"/>
                  </a:lnTo>
                  <a:lnTo>
                    <a:pt x="360006" y="140550"/>
                  </a:lnTo>
                  <a:lnTo>
                    <a:pt x="342734" y="95427"/>
                  </a:lnTo>
                  <a:lnTo>
                    <a:pt x="314299" y="56489"/>
                  </a:lnTo>
                  <a:lnTo>
                    <a:pt x="314198" y="56337"/>
                  </a:lnTo>
                  <a:lnTo>
                    <a:pt x="309803" y="52844"/>
                  </a:lnTo>
                  <a:lnTo>
                    <a:pt x="291553" y="38265"/>
                  </a:lnTo>
                  <a:lnTo>
                    <a:pt x="275577" y="25514"/>
                  </a:lnTo>
                  <a:lnTo>
                    <a:pt x="273151" y="24498"/>
                  </a:lnTo>
                  <a:lnTo>
                    <a:pt x="273151" y="101434"/>
                  </a:lnTo>
                  <a:lnTo>
                    <a:pt x="273151" y="119646"/>
                  </a:lnTo>
                  <a:lnTo>
                    <a:pt x="257975" y="126936"/>
                  </a:lnTo>
                  <a:lnTo>
                    <a:pt x="256768" y="131800"/>
                  </a:lnTo>
                  <a:lnTo>
                    <a:pt x="251904" y="140296"/>
                  </a:lnTo>
                  <a:lnTo>
                    <a:pt x="257365" y="156095"/>
                  </a:lnTo>
                  <a:lnTo>
                    <a:pt x="245224" y="168236"/>
                  </a:lnTo>
                  <a:lnTo>
                    <a:pt x="229450" y="162775"/>
                  </a:lnTo>
                  <a:lnTo>
                    <a:pt x="225196" y="165201"/>
                  </a:lnTo>
                  <a:lnTo>
                    <a:pt x="220954" y="167017"/>
                  </a:lnTo>
                  <a:lnTo>
                    <a:pt x="216090" y="168236"/>
                  </a:lnTo>
                  <a:lnTo>
                    <a:pt x="208813" y="182816"/>
                  </a:lnTo>
                  <a:lnTo>
                    <a:pt x="197281" y="182816"/>
                  </a:lnTo>
                  <a:lnTo>
                    <a:pt x="197281" y="224726"/>
                  </a:lnTo>
                  <a:lnTo>
                    <a:pt x="196710" y="241731"/>
                  </a:lnTo>
                  <a:lnTo>
                    <a:pt x="196672" y="242938"/>
                  </a:lnTo>
                  <a:lnTo>
                    <a:pt x="181495" y="250228"/>
                  </a:lnTo>
                  <a:lnTo>
                    <a:pt x="180276" y="255092"/>
                  </a:lnTo>
                  <a:lnTo>
                    <a:pt x="178460" y="259346"/>
                  </a:lnTo>
                  <a:lnTo>
                    <a:pt x="176034" y="263588"/>
                  </a:lnTo>
                  <a:lnTo>
                    <a:pt x="180886" y="279387"/>
                  </a:lnTo>
                  <a:lnTo>
                    <a:pt x="168744" y="291528"/>
                  </a:lnTo>
                  <a:lnTo>
                    <a:pt x="152958" y="286067"/>
                  </a:lnTo>
                  <a:lnTo>
                    <a:pt x="148717" y="288493"/>
                  </a:lnTo>
                  <a:lnTo>
                    <a:pt x="144462" y="290322"/>
                  </a:lnTo>
                  <a:lnTo>
                    <a:pt x="139611" y="291528"/>
                  </a:lnTo>
                  <a:lnTo>
                    <a:pt x="132930" y="306108"/>
                  </a:lnTo>
                  <a:lnTo>
                    <a:pt x="115938" y="306108"/>
                  </a:lnTo>
                  <a:lnTo>
                    <a:pt x="108648" y="290918"/>
                  </a:lnTo>
                  <a:lnTo>
                    <a:pt x="106222" y="290322"/>
                  </a:lnTo>
                  <a:lnTo>
                    <a:pt x="103797" y="289712"/>
                  </a:lnTo>
                  <a:lnTo>
                    <a:pt x="99542" y="287883"/>
                  </a:lnTo>
                  <a:lnTo>
                    <a:pt x="95300" y="285457"/>
                  </a:lnTo>
                  <a:lnTo>
                    <a:pt x="79514" y="290322"/>
                  </a:lnTo>
                  <a:lnTo>
                    <a:pt x="67373" y="278168"/>
                  </a:lnTo>
                  <a:lnTo>
                    <a:pt x="72834" y="262382"/>
                  </a:lnTo>
                  <a:lnTo>
                    <a:pt x="70408" y="258127"/>
                  </a:lnTo>
                  <a:lnTo>
                    <a:pt x="68592" y="253873"/>
                  </a:lnTo>
                  <a:lnTo>
                    <a:pt x="67373" y="249021"/>
                  </a:lnTo>
                  <a:lnTo>
                    <a:pt x="52197" y="241731"/>
                  </a:lnTo>
                  <a:lnTo>
                    <a:pt x="52197" y="224726"/>
                  </a:lnTo>
                  <a:lnTo>
                    <a:pt x="67373" y="217436"/>
                  </a:lnTo>
                  <a:lnTo>
                    <a:pt x="68592" y="212572"/>
                  </a:lnTo>
                  <a:lnTo>
                    <a:pt x="70408" y="208318"/>
                  </a:lnTo>
                  <a:lnTo>
                    <a:pt x="72834" y="204076"/>
                  </a:lnTo>
                  <a:lnTo>
                    <a:pt x="67373" y="188277"/>
                  </a:lnTo>
                  <a:lnTo>
                    <a:pt x="79514" y="176136"/>
                  </a:lnTo>
                  <a:lnTo>
                    <a:pt x="95300" y="181597"/>
                  </a:lnTo>
                  <a:lnTo>
                    <a:pt x="99542" y="179171"/>
                  </a:lnTo>
                  <a:lnTo>
                    <a:pt x="103797" y="177342"/>
                  </a:lnTo>
                  <a:lnTo>
                    <a:pt x="108648" y="176136"/>
                  </a:lnTo>
                  <a:lnTo>
                    <a:pt x="115938" y="160947"/>
                  </a:lnTo>
                  <a:lnTo>
                    <a:pt x="133540" y="160947"/>
                  </a:lnTo>
                  <a:lnTo>
                    <a:pt x="140817" y="176136"/>
                  </a:lnTo>
                  <a:lnTo>
                    <a:pt x="145681" y="177342"/>
                  </a:lnTo>
                  <a:lnTo>
                    <a:pt x="149923" y="179171"/>
                  </a:lnTo>
                  <a:lnTo>
                    <a:pt x="154178" y="181597"/>
                  </a:lnTo>
                  <a:lnTo>
                    <a:pt x="169964" y="176136"/>
                  </a:lnTo>
                  <a:lnTo>
                    <a:pt x="182105" y="188277"/>
                  </a:lnTo>
                  <a:lnTo>
                    <a:pt x="176631" y="204076"/>
                  </a:lnTo>
                  <a:lnTo>
                    <a:pt x="179070" y="208318"/>
                  </a:lnTo>
                  <a:lnTo>
                    <a:pt x="180886" y="212572"/>
                  </a:lnTo>
                  <a:lnTo>
                    <a:pt x="182105" y="217436"/>
                  </a:lnTo>
                  <a:lnTo>
                    <a:pt x="197281" y="224726"/>
                  </a:lnTo>
                  <a:lnTo>
                    <a:pt x="197281" y="182816"/>
                  </a:lnTo>
                  <a:lnTo>
                    <a:pt x="191808" y="182816"/>
                  </a:lnTo>
                  <a:lnTo>
                    <a:pt x="188607" y="176136"/>
                  </a:lnTo>
                  <a:lnTo>
                    <a:pt x="184531" y="167627"/>
                  </a:lnTo>
                  <a:lnTo>
                    <a:pt x="179666" y="166420"/>
                  </a:lnTo>
                  <a:lnTo>
                    <a:pt x="175425" y="164592"/>
                  </a:lnTo>
                  <a:lnTo>
                    <a:pt x="171170" y="162166"/>
                  </a:lnTo>
                  <a:lnTo>
                    <a:pt x="155397" y="167627"/>
                  </a:lnTo>
                  <a:lnTo>
                    <a:pt x="148717" y="160947"/>
                  </a:lnTo>
                  <a:lnTo>
                    <a:pt x="143256" y="155486"/>
                  </a:lnTo>
                  <a:lnTo>
                    <a:pt x="148717" y="139687"/>
                  </a:lnTo>
                  <a:lnTo>
                    <a:pt x="146291" y="135445"/>
                  </a:lnTo>
                  <a:lnTo>
                    <a:pt x="144462" y="131191"/>
                  </a:lnTo>
                  <a:lnTo>
                    <a:pt x="143256" y="126326"/>
                  </a:lnTo>
                  <a:lnTo>
                    <a:pt x="128079" y="119037"/>
                  </a:lnTo>
                  <a:lnTo>
                    <a:pt x="128079" y="102031"/>
                  </a:lnTo>
                  <a:lnTo>
                    <a:pt x="143256" y="94754"/>
                  </a:lnTo>
                  <a:lnTo>
                    <a:pt x="144462" y="89890"/>
                  </a:lnTo>
                  <a:lnTo>
                    <a:pt x="146291" y="85636"/>
                  </a:lnTo>
                  <a:lnTo>
                    <a:pt x="148717" y="81381"/>
                  </a:lnTo>
                  <a:lnTo>
                    <a:pt x="143852" y="65595"/>
                  </a:lnTo>
                  <a:lnTo>
                    <a:pt x="155994" y="53454"/>
                  </a:lnTo>
                  <a:lnTo>
                    <a:pt x="171780" y="58915"/>
                  </a:lnTo>
                  <a:lnTo>
                    <a:pt x="176034" y="56489"/>
                  </a:lnTo>
                  <a:lnTo>
                    <a:pt x="180276" y="54660"/>
                  </a:lnTo>
                  <a:lnTo>
                    <a:pt x="185140" y="53454"/>
                  </a:lnTo>
                  <a:lnTo>
                    <a:pt x="192417" y="38265"/>
                  </a:lnTo>
                  <a:lnTo>
                    <a:pt x="209410" y="38265"/>
                  </a:lnTo>
                  <a:lnTo>
                    <a:pt x="216700" y="52844"/>
                  </a:lnTo>
                  <a:lnTo>
                    <a:pt x="221551" y="54051"/>
                  </a:lnTo>
                  <a:lnTo>
                    <a:pt x="225806" y="55880"/>
                  </a:lnTo>
                  <a:lnTo>
                    <a:pt x="230060" y="58305"/>
                  </a:lnTo>
                  <a:lnTo>
                    <a:pt x="245833" y="52844"/>
                  </a:lnTo>
                  <a:lnTo>
                    <a:pt x="257975" y="64985"/>
                  </a:lnTo>
                  <a:lnTo>
                    <a:pt x="252514" y="80784"/>
                  </a:lnTo>
                  <a:lnTo>
                    <a:pt x="254939" y="85026"/>
                  </a:lnTo>
                  <a:lnTo>
                    <a:pt x="256768" y="89281"/>
                  </a:lnTo>
                  <a:lnTo>
                    <a:pt x="257975" y="94145"/>
                  </a:lnTo>
                  <a:lnTo>
                    <a:pt x="273151" y="101434"/>
                  </a:lnTo>
                  <a:lnTo>
                    <a:pt x="273151" y="24498"/>
                  </a:lnTo>
                  <a:lnTo>
                    <a:pt x="230238" y="6375"/>
                  </a:lnTo>
                  <a:lnTo>
                    <a:pt x="182397" y="0"/>
                  </a:lnTo>
                  <a:lnTo>
                    <a:pt x="134569" y="6375"/>
                  </a:lnTo>
                  <a:lnTo>
                    <a:pt x="89230" y="25514"/>
                  </a:lnTo>
                  <a:lnTo>
                    <a:pt x="50609" y="56083"/>
                  </a:lnTo>
                  <a:lnTo>
                    <a:pt x="22072" y="95199"/>
                  </a:lnTo>
                  <a:lnTo>
                    <a:pt x="4864" y="140296"/>
                  </a:lnTo>
                  <a:lnTo>
                    <a:pt x="114" y="188277"/>
                  </a:lnTo>
                  <a:lnTo>
                    <a:pt x="0" y="189496"/>
                  </a:lnTo>
                  <a:lnTo>
                    <a:pt x="4787" y="231851"/>
                  </a:lnTo>
                  <a:lnTo>
                    <a:pt x="18732" y="271411"/>
                  </a:lnTo>
                  <a:lnTo>
                    <a:pt x="41224" y="306755"/>
                  </a:lnTo>
                  <a:lnTo>
                    <a:pt x="71628" y="336473"/>
                  </a:lnTo>
                  <a:lnTo>
                    <a:pt x="71628" y="490131"/>
                  </a:lnTo>
                  <a:lnTo>
                    <a:pt x="263436" y="490131"/>
                  </a:lnTo>
                  <a:lnTo>
                    <a:pt x="263436" y="417258"/>
                  </a:lnTo>
                  <a:lnTo>
                    <a:pt x="293179" y="417258"/>
                  </a:lnTo>
                  <a:lnTo>
                    <a:pt x="333298" y="404952"/>
                  </a:lnTo>
                  <a:lnTo>
                    <a:pt x="359498" y="372237"/>
                  </a:lnTo>
                  <a:lnTo>
                    <a:pt x="364807" y="344373"/>
                  </a:lnTo>
                  <a:lnTo>
                    <a:pt x="364807" y="307924"/>
                  </a:lnTo>
                  <a:lnTo>
                    <a:pt x="391515" y="307924"/>
                  </a:lnTo>
                  <a:lnTo>
                    <a:pt x="396265" y="306108"/>
                  </a:lnTo>
                  <a:lnTo>
                    <a:pt x="402602" y="303682"/>
                  </a:lnTo>
                  <a:lnTo>
                    <a:pt x="410489" y="294411"/>
                  </a:lnTo>
                  <a:lnTo>
                    <a:pt x="410972" y="291528"/>
                  </a:lnTo>
                  <a:lnTo>
                    <a:pt x="412686" y="28127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 descr=""/>
          <p:cNvSpPr txBox="1"/>
          <p:nvPr/>
        </p:nvSpPr>
        <p:spPr>
          <a:xfrm>
            <a:off x="6735571" y="4931790"/>
            <a:ext cx="1400175" cy="710565"/>
          </a:xfrm>
          <a:prstGeom prst="rect">
            <a:avLst/>
          </a:prstGeom>
        </p:spPr>
        <p:txBody>
          <a:bodyPr wrap="square" lIns="0" tIns="38735" rIns="0" bIns="0" rtlCol="0" vert="horz">
            <a:spAutoFit/>
          </a:bodyPr>
          <a:lstStyle/>
          <a:p>
            <a:pPr algn="ctr" marL="12700" marR="5080" indent="1270">
              <a:lnSpc>
                <a:spcPts val="1739"/>
              </a:lnSpc>
              <a:spcBef>
                <a:spcPts val="305"/>
              </a:spcBef>
            </a:pPr>
            <a:r>
              <a:rPr dirty="0" sz="1600" spc="-10">
                <a:solidFill>
                  <a:srgbClr val="FFFFFF"/>
                </a:solidFill>
                <a:latin typeface="Tw Cen MT"/>
                <a:cs typeface="Tw Cen MT"/>
              </a:rPr>
              <a:t>MODEL </a:t>
            </a:r>
            <a:r>
              <a:rPr dirty="0" sz="1600" spc="-20">
                <a:solidFill>
                  <a:srgbClr val="FFFFFF"/>
                </a:solidFill>
                <a:latin typeface="Tw Cen MT"/>
                <a:cs typeface="Tw Cen MT"/>
              </a:rPr>
              <a:t>COMPARISON</a:t>
            </a:r>
            <a:r>
              <a:rPr dirty="0" sz="1600" spc="-5">
                <a:solidFill>
                  <a:srgbClr val="FFFFFF"/>
                </a:solidFill>
                <a:latin typeface="Tw Cen MT"/>
                <a:cs typeface="Tw Cen MT"/>
              </a:rPr>
              <a:t> </a:t>
            </a:r>
            <a:r>
              <a:rPr dirty="0" sz="1600" spc="-50">
                <a:solidFill>
                  <a:srgbClr val="FFFFFF"/>
                </a:solidFill>
                <a:latin typeface="Tw Cen MT"/>
                <a:cs typeface="Tw Cen MT"/>
              </a:rPr>
              <a:t>&amp; </a:t>
            </a:r>
            <a:r>
              <a:rPr dirty="0" sz="1600" spc="-10">
                <a:solidFill>
                  <a:srgbClr val="FFFFFF"/>
                </a:solidFill>
                <a:latin typeface="Tw Cen MT"/>
                <a:cs typeface="Tw Cen MT"/>
              </a:rPr>
              <a:t>PERFORMANCE</a:t>
            </a:r>
            <a:endParaRPr sz="1600">
              <a:latin typeface="Tw Cen MT"/>
              <a:cs typeface="Tw Cen MT"/>
            </a:endParaRPr>
          </a:p>
        </p:txBody>
      </p:sp>
      <p:grpSp>
        <p:nvGrpSpPr>
          <p:cNvPr id="19" name="object 19" descr=""/>
          <p:cNvGrpSpPr/>
          <p:nvPr/>
        </p:nvGrpSpPr>
        <p:grpSpPr>
          <a:xfrm>
            <a:off x="8900541" y="3625215"/>
            <a:ext cx="1027430" cy="1027430"/>
            <a:chOff x="8900541" y="3625215"/>
            <a:chExt cx="1027430" cy="1027430"/>
          </a:xfrm>
        </p:grpSpPr>
        <p:sp>
          <p:nvSpPr>
            <p:cNvPr id="20" name="object 20" descr=""/>
            <p:cNvSpPr/>
            <p:nvPr/>
          </p:nvSpPr>
          <p:spPr>
            <a:xfrm>
              <a:off x="8900541" y="3625215"/>
              <a:ext cx="1027430" cy="1027430"/>
            </a:xfrm>
            <a:custGeom>
              <a:avLst/>
              <a:gdLst/>
              <a:ahLst/>
              <a:cxnLst/>
              <a:rect l="l" t="t" r="r" b="b"/>
              <a:pathLst>
                <a:path w="1027429" h="1027429">
                  <a:moveTo>
                    <a:pt x="513714" y="0"/>
                  </a:moveTo>
                  <a:lnTo>
                    <a:pt x="466956" y="2099"/>
                  </a:lnTo>
                  <a:lnTo>
                    <a:pt x="421373" y="8276"/>
                  </a:lnTo>
                  <a:lnTo>
                    <a:pt x="377148" y="18349"/>
                  </a:lnTo>
                  <a:lnTo>
                    <a:pt x="334462" y="32137"/>
                  </a:lnTo>
                  <a:lnTo>
                    <a:pt x="293496" y="49459"/>
                  </a:lnTo>
                  <a:lnTo>
                    <a:pt x="254432" y="70132"/>
                  </a:lnTo>
                  <a:lnTo>
                    <a:pt x="217451" y="93975"/>
                  </a:lnTo>
                  <a:lnTo>
                    <a:pt x="182734" y="120807"/>
                  </a:lnTo>
                  <a:lnTo>
                    <a:pt x="150463" y="150447"/>
                  </a:lnTo>
                  <a:lnTo>
                    <a:pt x="120818" y="182712"/>
                  </a:lnTo>
                  <a:lnTo>
                    <a:pt x="93983" y="217422"/>
                  </a:lnTo>
                  <a:lnTo>
                    <a:pt x="70136" y="254395"/>
                  </a:lnTo>
                  <a:lnTo>
                    <a:pt x="49461" y="293449"/>
                  </a:lnTo>
                  <a:lnTo>
                    <a:pt x="32139" y="334403"/>
                  </a:lnTo>
                  <a:lnTo>
                    <a:pt x="18350" y="377075"/>
                  </a:lnTo>
                  <a:lnTo>
                    <a:pt x="8276" y="421284"/>
                  </a:lnTo>
                  <a:lnTo>
                    <a:pt x="2099" y="466849"/>
                  </a:lnTo>
                  <a:lnTo>
                    <a:pt x="0" y="513588"/>
                  </a:lnTo>
                  <a:lnTo>
                    <a:pt x="2099" y="560345"/>
                  </a:lnTo>
                  <a:lnTo>
                    <a:pt x="8276" y="605924"/>
                  </a:lnTo>
                  <a:lnTo>
                    <a:pt x="18350" y="650144"/>
                  </a:lnTo>
                  <a:lnTo>
                    <a:pt x="32139" y="692824"/>
                  </a:lnTo>
                  <a:lnTo>
                    <a:pt x="49461" y="733782"/>
                  </a:lnTo>
                  <a:lnTo>
                    <a:pt x="70136" y="772837"/>
                  </a:lnTo>
                  <a:lnTo>
                    <a:pt x="93983" y="809808"/>
                  </a:lnTo>
                  <a:lnTo>
                    <a:pt x="120818" y="844515"/>
                  </a:lnTo>
                  <a:lnTo>
                    <a:pt x="150463" y="876776"/>
                  </a:lnTo>
                  <a:lnTo>
                    <a:pt x="182734" y="906409"/>
                  </a:lnTo>
                  <a:lnTo>
                    <a:pt x="217451" y="933235"/>
                  </a:lnTo>
                  <a:lnTo>
                    <a:pt x="254432" y="957072"/>
                  </a:lnTo>
                  <a:lnTo>
                    <a:pt x="293496" y="977738"/>
                  </a:lnTo>
                  <a:lnTo>
                    <a:pt x="334462" y="995052"/>
                  </a:lnTo>
                  <a:lnTo>
                    <a:pt x="377148" y="1008835"/>
                  </a:lnTo>
                  <a:lnTo>
                    <a:pt x="421373" y="1018903"/>
                  </a:lnTo>
                  <a:lnTo>
                    <a:pt x="466956" y="1025077"/>
                  </a:lnTo>
                  <a:lnTo>
                    <a:pt x="513714" y="1027176"/>
                  </a:lnTo>
                  <a:lnTo>
                    <a:pt x="560453" y="1025077"/>
                  </a:lnTo>
                  <a:lnTo>
                    <a:pt x="606018" y="1018903"/>
                  </a:lnTo>
                  <a:lnTo>
                    <a:pt x="650227" y="1008835"/>
                  </a:lnTo>
                  <a:lnTo>
                    <a:pt x="692899" y="995052"/>
                  </a:lnTo>
                  <a:lnTo>
                    <a:pt x="733853" y="977738"/>
                  </a:lnTo>
                  <a:lnTo>
                    <a:pt x="772907" y="957071"/>
                  </a:lnTo>
                  <a:lnTo>
                    <a:pt x="809880" y="933235"/>
                  </a:lnTo>
                  <a:lnTo>
                    <a:pt x="844590" y="906409"/>
                  </a:lnTo>
                  <a:lnTo>
                    <a:pt x="876855" y="876776"/>
                  </a:lnTo>
                  <a:lnTo>
                    <a:pt x="906495" y="844515"/>
                  </a:lnTo>
                  <a:lnTo>
                    <a:pt x="933327" y="809808"/>
                  </a:lnTo>
                  <a:lnTo>
                    <a:pt x="957170" y="772837"/>
                  </a:lnTo>
                  <a:lnTo>
                    <a:pt x="977843" y="733782"/>
                  </a:lnTo>
                  <a:lnTo>
                    <a:pt x="995165" y="692824"/>
                  </a:lnTo>
                  <a:lnTo>
                    <a:pt x="1008953" y="650144"/>
                  </a:lnTo>
                  <a:lnTo>
                    <a:pt x="1019026" y="605924"/>
                  </a:lnTo>
                  <a:lnTo>
                    <a:pt x="1025203" y="560345"/>
                  </a:lnTo>
                  <a:lnTo>
                    <a:pt x="1027302" y="513588"/>
                  </a:lnTo>
                  <a:lnTo>
                    <a:pt x="1025203" y="466849"/>
                  </a:lnTo>
                  <a:lnTo>
                    <a:pt x="1019026" y="421284"/>
                  </a:lnTo>
                  <a:lnTo>
                    <a:pt x="1008953" y="377075"/>
                  </a:lnTo>
                  <a:lnTo>
                    <a:pt x="995165" y="334403"/>
                  </a:lnTo>
                  <a:lnTo>
                    <a:pt x="977843" y="293449"/>
                  </a:lnTo>
                  <a:lnTo>
                    <a:pt x="957170" y="254395"/>
                  </a:lnTo>
                  <a:lnTo>
                    <a:pt x="933327" y="217422"/>
                  </a:lnTo>
                  <a:lnTo>
                    <a:pt x="906495" y="182712"/>
                  </a:lnTo>
                  <a:lnTo>
                    <a:pt x="876855" y="150447"/>
                  </a:lnTo>
                  <a:lnTo>
                    <a:pt x="844590" y="120807"/>
                  </a:lnTo>
                  <a:lnTo>
                    <a:pt x="809880" y="93975"/>
                  </a:lnTo>
                  <a:lnTo>
                    <a:pt x="772907" y="70132"/>
                  </a:lnTo>
                  <a:lnTo>
                    <a:pt x="733853" y="49459"/>
                  </a:lnTo>
                  <a:lnTo>
                    <a:pt x="692899" y="32137"/>
                  </a:lnTo>
                  <a:lnTo>
                    <a:pt x="650227" y="18349"/>
                  </a:lnTo>
                  <a:lnTo>
                    <a:pt x="606018" y="8276"/>
                  </a:lnTo>
                  <a:lnTo>
                    <a:pt x="560453" y="2099"/>
                  </a:lnTo>
                  <a:lnTo>
                    <a:pt x="513714" y="0"/>
                  </a:lnTo>
                  <a:close/>
                </a:path>
              </a:pathLst>
            </a:custGeom>
            <a:solidFill>
              <a:srgbClr val="61A29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 descr=""/>
            <p:cNvSpPr/>
            <p:nvPr/>
          </p:nvSpPr>
          <p:spPr>
            <a:xfrm>
              <a:off x="9208770" y="3933063"/>
              <a:ext cx="413384" cy="413384"/>
            </a:xfrm>
            <a:custGeom>
              <a:avLst/>
              <a:gdLst/>
              <a:ahLst/>
              <a:cxnLst/>
              <a:rect l="l" t="t" r="r" b="b"/>
              <a:pathLst>
                <a:path w="413384" h="413385">
                  <a:moveTo>
                    <a:pt x="139611" y="128003"/>
                  </a:moveTo>
                  <a:lnTo>
                    <a:pt x="72834" y="128003"/>
                  </a:lnTo>
                  <a:lnTo>
                    <a:pt x="72834" y="340575"/>
                  </a:lnTo>
                  <a:lnTo>
                    <a:pt x="139611" y="340575"/>
                  </a:lnTo>
                  <a:lnTo>
                    <a:pt x="139611" y="128003"/>
                  </a:lnTo>
                  <a:close/>
                </a:path>
                <a:path w="413384" h="413385">
                  <a:moveTo>
                    <a:pt x="230657" y="457"/>
                  </a:moveTo>
                  <a:lnTo>
                    <a:pt x="163893" y="457"/>
                  </a:lnTo>
                  <a:lnTo>
                    <a:pt x="163893" y="340575"/>
                  </a:lnTo>
                  <a:lnTo>
                    <a:pt x="230657" y="340575"/>
                  </a:lnTo>
                  <a:lnTo>
                    <a:pt x="230657" y="457"/>
                  </a:lnTo>
                  <a:close/>
                </a:path>
                <a:path w="413384" h="413385">
                  <a:moveTo>
                    <a:pt x="321716" y="128003"/>
                  </a:moveTo>
                  <a:lnTo>
                    <a:pt x="254939" y="128003"/>
                  </a:lnTo>
                  <a:lnTo>
                    <a:pt x="254939" y="340575"/>
                  </a:lnTo>
                  <a:lnTo>
                    <a:pt x="321716" y="340575"/>
                  </a:lnTo>
                  <a:lnTo>
                    <a:pt x="321716" y="128003"/>
                  </a:lnTo>
                  <a:close/>
                </a:path>
                <a:path w="413384" h="413385">
                  <a:moveTo>
                    <a:pt x="412762" y="377291"/>
                  </a:moveTo>
                  <a:lnTo>
                    <a:pt x="36410" y="377291"/>
                  </a:lnTo>
                  <a:lnTo>
                    <a:pt x="36410" y="0"/>
                  </a:lnTo>
                  <a:lnTo>
                    <a:pt x="0" y="0"/>
                  </a:lnTo>
                  <a:lnTo>
                    <a:pt x="0" y="377291"/>
                  </a:lnTo>
                  <a:lnTo>
                    <a:pt x="0" y="412864"/>
                  </a:lnTo>
                  <a:lnTo>
                    <a:pt x="412762" y="412864"/>
                  </a:lnTo>
                  <a:lnTo>
                    <a:pt x="412762" y="377291"/>
                  </a:lnTo>
                  <a:close/>
                </a:path>
                <a:path w="413384" h="413385">
                  <a:moveTo>
                    <a:pt x="412762" y="231254"/>
                  </a:moveTo>
                  <a:lnTo>
                    <a:pt x="345998" y="231254"/>
                  </a:lnTo>
                  <a:lnTo>
                    <a:pt x="345998" y="340575"/>
                  </a:lnTo>
                  <a:lnTo>
                    <a:pt x="412762" y="340575"/>
                  </a:lnTo>
                  <a:lnTo>
                    <a:pt x="412762" y="2312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 descr=""/>
          <p:cNvSpPr txBox="1"/>
          <p:nvPr/>
        </p:nvSpPr>
        <p:spPr>
          <a:xfrm>
            <a:off x="8857868" y="4931790"/>
            <a:ext cx="1113155" cy="26924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600" spc="-30">
                <a:solidFill>
                  <a:srgbClr val="FFFFFF"/>
                </a:solidFill>
                <a:latin typeface="Tw Cen MT"/>
                <a:cs typeface="Tw Cen MT"/>
              </a:rPr>
              <a:t>TAKE-</a:t>
            </a:r>
            <a:r>
              <a:rPr dirty="0" sz="1600" spc="-65">
                <a:solidFill>
                  <a:srgbClr val="FFFFFF"/>
                </a:solidFill>
                <a:latin typeface="Tw Cen MT"/>
                <a:cs typeface="Tw Cen MT"/>
              </a:rPr>
              <a:t>AWAYS</a:t>
            </a:r>
            <a:endParaRPr sz="1600">
              <a:latin typeface="Tw Cen MT"/>
              <a:cs typeface="Tw Cen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I.</a:t>
            </a:r>
            <a:r>
              <a:rPr dirty="0" spc="-90"/>
              <a:t> </a:t>
            </a:r>
            <a:r>
              <a:rPr dirty="0"/>
              <a:t>Project</a:t>
            </a:r>
            <a:r>
              <a:rPr dirty="0" spc="-80"/>
              <a:t> </a:t>
            </a:r>
            <a:r>
              <a:rPr dirty="0" spc="-10"/>
              <a:t>Overview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929132" y="1255547"/>
            <a:ext cx="10052050" cy="3088640"/>
          </a:xfrm>
          <a:prstGeom prst="rect">
            <a:avLst/>
          </a:prstGeom>
        </p:spPr>
        <p:txBody>
          <a:bodyPr wrap="square" lIns="0" tIns="1346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60"/>
              </a:spcBef>
            </a:pP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Goal:</a:t>
            </a:r>
            <a:endParaRPr sz="1600">
              <a:latin typeface="Segoe UI Semilight"/>
              <a:cs typeface="Segoe UI Semilight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To</a:t>
            </a:r>
            <a:r>
              <a:rPr dirty="0" sz="1600" spc="35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develop</a:t>
            </a:r>
            <a:r>
              <a:rPr dirty="0" sz="1600" spc="35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a</a:t>
            </a:r>
            <a:r>
              <a:rPr dirty="0" sz="1600" spc="36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"/>
                <a:cs typeface="Segoe UI"/>
              </a:rPr>
              <a:t>high-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performance,</a:t>
            </a:r>
            <a:r>
              <a:rPr dirty="0" sz="1600" spc="37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"/>
                <a:cs typeface="Segoe UI"/>
              </a:rPr>
              <a:t>privacy-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preserving</a:t>
            </a:r>
            <a:r>
              <a:rPr dirty="0" sz="1600" spc="36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classification</a:t>
            </a:r>
            <a:r>
              <a:rPr dirty="0" sz="1600" spc="36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system</a:t>
            </a:r>
            <a:r>
              <a:rPr dirty="0" sz="1600" spc="36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for</a:t>
            </a:r>
            <a:r>
              <a:rPr dirty="0" sz="1600" spc="35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encrypted</a:t>
            </a:r>
            <a:r>
              <a:rPr dirty="0" sz="1600" spc="36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network</a:t>
            </a:r>
            <a:r>
              <a:rPr dirty="0" sz="1600" spc="37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traffic</a:t>
            </a:r>
            <a:r>
              <a:rPr dirty="0" sz="1600" spc="35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20">
                <a:solidFill>
                  <a:srgbClr val="FFFFFF"/>
                </a:solidFill>
                <a:latin typeface="Segoe UI"/>
                <a:cs typeface="Segoe UI"/>
              </a:rPr>
              <a:t>that</a:t>
            </a:r>
            <a:endParaRPr sz="16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identifies</a:t>
            </a:r>
            <a:r>
              <a:rPr dirty="0" sz="1600" spc="19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applications</a:t>
            </a:r>
            <a:r>
              <a:rPr dirty="0" sz="1600" spc="19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without</a:t>
            </a:r>
            <a:r>
              <a:rPr dirty="0" sz="1600" spc="204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payload</a:t>
            </a:r>
            <a:r>
              <a:rPr dirty="0" sz="1600" spc="21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inspection</a:t>
            </a:r>
            <a:r>
              <a:rPr dirty="0" sz="1600" spc="20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by</a:t>
            </a:r>
            <a:r>
              <a:rPr dirty="0" sz="1600" spc="20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aligning</a:t>
            </a:r>
            <a:r>
              <a:rPr dirty="0" sz="1600" spc="19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visual</a:t>
            </a:r>
            <a:r>
              <a:rPr dirty="0" sz="1600" spc="204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"/>
                <a:cs typeface="Segoe UI"/>
              </a:rPr>
              <a:t>byte-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patterns,</a:t>
            </a:r>
            <a:r>
              <a:rPr dirty="0" sz="1600" spc="22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behavioral</a:t>
            </a:r>
            <a:r>
              <a:rPr dirty="0" sz="1600" spc="20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semantics,</a:t>
            </a:r>
            <a:r>
              <a:rPr dirty="0" sz="1600" spc="204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25">
                <a:solidFill>
                  <a:srgbClr val="FFFFFF"/>
                </a:solidFill>
                <a:latin typeface="Segoe UI"/>
                <a:cs typeface="Segoe UI"/>
              </a:rPr>
              <a:t>and</a:t>
            </a:r>
            <a:endParaRPr sz="160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flow</a:t>
            </a:r>
            <a:r>
              <a:rPr dirty="0" sz="1600" spc="-2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"/>
                <a:cs typeface="Segoe UI"/>
              </a:rPr>
              <a:t>physics.</a:t>
            </a:r>
            <a:endParaRPr sz="160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1714"/>
              </a:spcBef>
            </a:pPr>
            <a:endParaRPr sz="1600">
              <a:latin typeface="Segoe UI"/>
              <a:cs typeface="Segoe UI"/>
            </a:endParaRPr>
          </a:p>
          <a:p>
            <a:pPr marL="298450" indent="-285750">
              <a:lnSpc>
                <a:spcPct val="100000"/>
              </a:lnSpc>
              <a:buFont typeface="Wingdings"/>
              <a:buChar char=""/>
              <a:tabLst>
                <a:tab pos="298450" algn="l"/>
              </a:tabLst>
            </a:pP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Data</a:t>
            </a:r>
            <a:r>
              <a:rPr dirty="0" sz="1600" spc="-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Source:</a:t>
            </a:r>
            <a:endParaRPr sz="1600">
              <a:latin typeface="Segoe UI Semilight"/>
              <a:cs typeface="Segoe UI Semilight"/>
            </a:endParaRPr>
          </a:p>
          <a:p>
            <a:pPr marL="12700">
              <a:lnSpc>
                <a:spcPct val="100000"/>
              </a:lnSpc>
              <a:spcBef>
                <a:spcPts val="350"/>
              </a:spcBef>
            </a:pPr>
            <a:r>
              <a:rPr dirty="0" sz="1800" spc="-10">
                <a:solidFill>
                  <a:srgbClr val="FFFFFF"/>
                </a:solidFill>
                <a:latin typeface="Segoe UI"/>
                <a:cs typeface="Segoe UI"/>
              </a:rPr>
              <a:t>https://raw.githubusercontent.com/yungshenglu/USTC-TFC2016/master</a:t>
            </a:r>
            <a:endParaRPr sz="1800">
              <a:latin typeface="Segoe UI"/>
              <a:cs typeface="Segoe UI"/>
            </a:endParaRPr>
          </a:p>
          <a:p>
            <a:pPr marL="298450" indent="-285750">
              <a:lnSpc>
                <a:spcPct val="100000"/>
              </a:lnSpc>
              <a:spcBef>
                <a:spcPts val="2165"/>
              </a:spcBef>
              <a:buFont typeface="Wingdings"/>
              <a:buChar char=""/>
              <a:tabLst>
                <a:tab pos="298450" algn="l"/>
              </a:tabLst>
            </a:pPr>
            <a:r>
              <a:rPr dirty="0" sz="1800" spc="-10">
                <a:solidFill>
                  <a:srgbClr val="FFFFFF"/>
                </a:solidFill>
                <a:latin typeface="Segoe UI"/>
                <a:cs typeface="Segoe UI"/>
              </a:rPr>
              <a:t>Outcome:</a:t>
            </a:r>
            <a:endParaRPr sz="1800">
              <a:latin typeface="Segoe UI"/>
              <a:cs typeface="Segoe UI"/>
            </a:endParaRPr>
          </a:p>
        </p:txBody>
      </p:sp>
      <p:graphicFrame>
        <p:nvGraphicFramePr>
          <p:cNvPr id="4" name="object 4" descr=""/>
          <p:cNvGraphicFramePr>
            <a:graphicFrameLocks noGrp="1"/>
          </p:cNvGraphicFramePr>
          <p:nvPr/>
        </p:nvGraphicFramePr>
        <p:xfrm>
          <a:off x="988860" y="4507229"/>
          <a:ext cx="10432415" cy="20002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49954"/>
                <a:gridCol w="3449954"/>
                <a:gridCol w="3449954"/>
              </a:tblGrid>
              <a:tr h="270510"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Metric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52069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Performance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52069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83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Impact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52069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  <a:tr h="432434"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Accuracy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132715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045"/>
                        </a:spcBef>
                      </a:pP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558%</a:t>
                      </a: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Improvement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132715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835" marR="504190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Boosted</a:t>
                      </a:r>
                      <a:r>
                        <a:rPr dirty="0" sz="1000" spc="-2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Macro</a:t>
                      </a:r>
                      <a:r>
                        <a:rPr dirty="0" sz="1000" spc="-3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F1</a:t>
                      </a:r>
                      <a:r>
                        <a:rPr dirty="0" sz="1000" spc="-2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from</a:t>
                      </a:r>
                      <a:r>
                        <a:rPr dirty="0" sz="1000" spc="-1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0.12</a:t>
                      </a:r>
                      <a:r>
                        <a:rPr dirty="0" sz="1000" spc="-2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to</a:t>
                      </a:r>
                      <a:r>
                        <a:rPr dirty="0" sz="1000" spc="-2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0.79</a:t>
                      </a:r>
                      <a:r>
                        <a:rPr dirty="0" sz="1000" spc="-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through</a:t>
                      </a:r>
                      <a:r>
                        <a:rPr dirty="0" sz="1000" spc="-3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optimized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multimodal</a:t>
                      </a:r>
                      <a:r>
                        <a:rPr dirty="0" sz="1000" spc="-5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fusion</a:t>
                      </a:r>
                      <a:r>
                        <a:rPr dirty="0" sz="1000" spc="-4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techniques.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56515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  <a:tr h="432434"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050"/>
                        </a:spcBef>
                      </a:pP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Architecture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13335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050"/>
                        </a:spcBef>
                      </a:pP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3.37×</a:t>
                      </a:r>
                      <a:r>
                        <a:rPr dirty="0" sz="1000" spc="-2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Better</a:t>
                      </a:r>
                      <a:r>
                        <a:rPr dirty="0" sz="1000" spc="-4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Results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13335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835" marR="407034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Achieved</a:t>
                      </a:r>
                      <a:r>
                        <a:rPr dirty="0" sz="1000" spc="-2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significant</a:t>
                      </a:r>
                      <a:r>
                        <a:rPr dirty="0" sz="1000" spc="-3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performance</a:t>
                      </a:r>
                      <a:r>
                        <a:rPr dirty="0" sz="1000" spc="-3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gains</a:t>
                      </a:r>
                      <a:r>
                        <a:rPr dirty="0" sz="1000" spc="-4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with</a:t>
                      </a:r>
                      <a:r>
                        <a:rPr dirty="0" sz="1000" spc="-4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only</a:t>
                      </a:r>
                      <a:r>
                        <a:rPr dirty="0" sz="1000" spc="-4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</a:t>
                      </a:r>
                      <a:r>
                        <a:rPr dirty="0" sz="1000" spc="-2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spc="-2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1.07% </a:t>
                      </a: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increase</a:t>
                      </a:r>
                      <a:r>
                        <a:rPr dirty="0" sz="1000" spc="-4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</a:t>
                      </a:r>
                      <a:r>
                        <a:rPr dirty="0" sz="1000" spc="-3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parameter </a:t>
                      </a:r>
                      <a:r>
                        <a:rPr dirty="0" sz="10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overhead.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5715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  <a:tr h="432434"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050"/>
                        </a:spcBef>
                      </a:pP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Convergence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13335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050"/>
                        </a:spcBef>
                      </a:pP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1%</a:t>
                      </a:r>
                      <a:r>
                        <a:rPr dirty="0" sz="1000" spc="-1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Loss</a:t>
                      </a:r>
                      <a:r>
                        <a:rPr dirty="0" sz="1000" spc="-1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/</a:t>
                      </a: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10</a:t>
                      </a:r>
                      <a:r>
                        <a:rPr dirty="0" sz="1000" spc="-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Epochs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13335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835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dirty="0" sz="10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Domain-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informed</a:t>
                      </a:r>
                      <a:r>
                        <a:rPr dirty="0" sz="1000" spc="-1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prompts</a:t>
                      </a:r>
                      <a:r>
                        <a:rPr dirty="0" sz="1000" spc="-2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enabled</a:t>
                      </a:r>
                      <a:r>
                        <a:rPr dirty="0" sz="10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</a:t>
                      </a:r>
                      <a:r>
                        <a:rPr dirty="0" sz="1000" spc="-2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steady</a:t>
                      </a:r>
                      <a:r>
                        <a:rPr dirty="0" sz="1000" spc="-1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loss</a:t>
                      </a:r>
                      <a:r>
                        <a:rPr dirty="0" sz="1000" spc="-2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reduction</a:t>
                      </a:r>
                      <a:r>
                        <a:rPr dirty="0" sz="1000" spc="-2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and</a:t>
                      </a:r>
                      <a:endParaRPr sz="1000">
                        <a:latin typeface="Calibri"/>
                        <a:cs typeface="Calibri"/>
                      </a:endParaRPr>
                    </a:p>
                    <a:p>
                      <a:pPr marL="76835">
                        <a:lnSpc>
                          <a:spcPct val="100000"/>
                        </a:lnSpc>
                      </a:pP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7.3%</a:t>
                      </a:r>
                      <a:r>
                        <a:rPr dirty="0" sz="1000" spc="-3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higher</a:t>
                      </a:r>
                      <a:r>
                        <a:rPr dirty="0" sz="1000" spc="-3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validation Macro</a:t>
                      </a:r>
                      <a:r>
                        <a:rPr dirty="0" sz="1000" spc="-5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spc="-2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F1</a:t>
                      </a:r>
                      <a:r>
                        <a:rPr dirty="0" sz="1000" spc="-2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.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5715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  <a:tr h="432434"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050"/>
                        </a:spcBef>
                      </a:pP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Efficiency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13335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050"/>
                        </a:spcBef>
                      </a:pPr>
                      <a:r>
                        <a:rPr dirty="0" sz="10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~1.05M</a:t>
                      </a:r>
                      <a:r>
                        <a:rPr dirty="0" sz="1000" spc="-2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Params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13335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835" marR="173990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Maintained</a:t>
                      </a:r>
                      <a:r>
                        <a:rPr dirty="0" sz="1000" spc="-5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</a:t>
                      </a:r>
                      <a:r>
                        <a:rPr dirty="0" sz="1000" spc="-3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lightweight</a:t>
                      </a:r>
                      <a:r>
                        <a:rPr dirty="0" sz="1000" spc="-1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architecture</a:t>
                      </a:r>
                      <a:r>
                        <a:rPr dirty="0" sz="1000" spc="-2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suitable</a:t>
                      </a:r>
                      <a:r>
                        <a:rPr dirty="0" sz="1000" spc="-4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for</a:t>
                      </a:r>
                      <a:r>
                        <a:rPr dirty="0" sz="1000" spc="-3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high-</a:t>
                      </a:r>
                      <a:r>
                        <a:rPr dirty="0" sz="10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speed, ISP-</a:t>
                      </a:r>
                      <a:r>
                        <a:rPr dirty="0" sz="10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scale</a:t>
                      </a:r>
                      <a:r>
                        <a:rPr dirty="0" sz="1000" spc="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0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monitoring.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 marT="5715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II.</a:t>
            </a:r>
            <a:r>
              <a:rPr dirty="0" spc="-15"/>
              <a:t> </a:t>
            </a:r>
            <a:r>
              <a:rPr dirty="0"/>
              <a:t>Data</a:t>
            </a:r>
            <a:r>
              <a:rPr dirty="0" spc="-15"/>
              <a:t> </a:t>
            </a:r>
            <a:r>
              <a:rPr dirty="0" spc="-10"/>
              <a:t>Overview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989482" y="1343304"/>
            <a:ext cx="10516870" cy="1580515"/>
          </a:xfrm>
          <a:prstGeom prst="rect">
            <a:avLst/>
          </a:prstGeom>
        </p:spPr>
        <p:txBody>
          <a:bodyPr wrap="square" lIns="0" tIns="58419" rIns="0" bIns="0" rtlCol="0" vert="horz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459"/>
              </a:spcBef>
              <a:buFont typeface="Wingdings"/>
              <a:buChar char=""/>
              <a:tabLst>
                <a:tab pos="298450" algn="l"/>
              </a:tabLst>
            </a:pP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Origin:</a:t>
            </a:r>
            <a:endParaRPr sz="1600">
              <a:latin typeface="Segoe UI Semilight"/>
              <a:cs typeface="Segoe UI Semilight"/>
            </a:endParaRPr>
          </a:p>
          <a:p>
            <a:pPr marL="12700" marR="5080">
              <a:lnSpc>
                <a:spcPct val="100000"/>
              </a:lnSpc>
              <a:spcBef>
                <a:spcPts val="360"/>
              </a:spcBef>
            </a:pP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The</a:t>
            </a:r>
            <a:r>
              <a:rPr dirty="0" sz="1600" spc="-3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data</a:t>
            </a:r>
            <a:r>
              <a:rPr dirty="0" sz="1600" spc="-3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is</a:t>
            </a:r>
            <a:r>
              <a:rPr dirty="0" sz="1600" spc="-3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sourced</a:t>
            </a:r>
            <a:r>
              <a:rPr dirty="0" sz="1600" spc="-2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from</a:t>
            </a:r>
            <a:r>
              <a:rPr dirty="0" sz="1600" spc="-3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the</a:t>
            </a:r>
            <a:r>
              <a:rPr dirty="0" sz="1600" spc="-3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30" b="1">
                <a:solidFill>
                  <a:srgbClr val="FFFFFF"/>
                </a:solidFill>
                <a:latin typeface="Segoe UI"/>
                <a:cs typeface="Segoe UI"/>
              </a:rPr>
              <a:t>USTC-</a:t>
            </a:r>
            <a:r>
              <a:rPr dirty="0" sz="1600" b="1">
                <a:solidFill>
                  <a:srgbClr val="FFFFFF"/>
                </a:solidFill>
                <a:latin typeface="Segoe UI"/>
                <a:cs typeface="Segoe UI"/>
              </a:rPr>
              <a:t>TFC2016</a:t>
            </a:r>
            <a:r>
              <a:rPr dirty="0" sz="1600" spc="10" b="1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dataset,</a:t>
            </a:r>
            <a:r>
              <a:rPr dirty="0" sz="1600" spc="-3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a</a:t>
            </a:r>
            <a:r>
              <a:rPr dirty="0" sz="1600" spc="-3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publicly</a:t>
            </a:r>
            <a:r>
              <a:rPr dirty="0" sz="1600" spc="-1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available</a:t>
            </a:r>
            <a:r>
              <a:rPr dirty="0" sz="1600" spc="-5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repository for</a:t>
            </a:r>
            <a:r>
              <a:rPr dirty="0" sz="1600" spc="-3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encrypted</a:t>
            </a:r>
            <a:r>
              <a:rPr dirty="0" sz="1600" spc="-2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traffic</a:t>
            </a:r>
            <a:r>
              <a:rPr dirty="0" sz="1600" spc="-3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"/>
                <a:cs typeface="Segoe UI"/>
              </a:rPr>
              <a:t>classification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research.</a:t>
            </a:r>
            <a:r>
              <a:rPr dirty="0" sz="1600" spc="-2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It</a:t>
            </a:r>
            <a:r>
              <a:rPr dirty="0" sz="1600" spc="-5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contains</a:t>
            </a:r>
            <a:r>
              <a:rPr dirty="0" sz="1600" spc="-4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raw</a:t>
            </a:r>
            <a:r>
              <a:rPr dirty="0" sz="1600" spc="-3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network</a:t>
            </a:r>
            <a:r>
              <a:rPr dirty="0" sz="1600" spc="-3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traffic</a:t>
            </a:r>
            <a:r>
              <a:rPr dirty="0" sz="1600" spc="-4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(PCAP</a:t>
            </a:r>
            <a:r>
              <a:rPr dirty="0" sz="1600" spc="-1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files)</a:t>
            </a:r>
            <a:r>
              <a:rPr dirty="0" sz="1600" spc="-5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captured</a:t>
            </a:r>
            <a:r>
              <a:rPr dirty="0" sz="1600" spc="-4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in</a:t>
            </a:r>
            <a:r>
              <a:rPr dirty="0" sz="1600" spc="-5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"/>
                <a:cs typeface="Segoe UI"/>
              </a:rPr>
              <a:t>real-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world</a:t>
            </a:r>
            <a:r>
              <a:rPr dirty="0" sz="1600" spc="-1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scenarios,</a:t>
            </a:r>
            <a:r>
              <a:rPr dirty="0" sz="1600" spc="-3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"/>
                <a:cs typeface="Segoe UI"/>
              </a:rPr>
              <a:t>representing</a:t>
            </a:r>
            <a:r>
              <a:rPr dirty="0" sz="1600" spc="-2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both</a:t>
            </a:r>
            <a:r>
              <a:rPr dirty="0" sz="1600" spc="-6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benign</a:t>
            </a:r>
            <a:r>
              <a:rPr dirty="0" sz="1600" spc="-4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25">
                <a:solidFill>
                  <a:srgbClr val="FFFFFF"/>
                </a:solidFill>
                <a:latin typeface="Segoe UI"/>
                <a:cs typeface="Segoe UI"/>
              </a:rPr>
              <a:t>and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malicious</a:t>
            </a:r>
            <a:r>
              <a:rPr dirty="0" sz="1600" spc="-55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"/>
                <a:cs typeface="Segoe UI"/>
              </a:rPr>
              <a:t>encrypted</a:t>
            </a:r>
            <a:r>
              <a:rPr dirty="0" sz="1600" spc="-30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"/>
                <a:cs typeface="Segoe UI"/>
              </a:rPr>
              <a:t>flows.</a:t>
            </a:r>
            <a:endParaRPr sz="1600">
              <a:latin typeface="Segoe UI"/>
              <a:cs typeface="Segoe UI"/>
            </a:endParaRPr>
          </a:p>
          <a:p>
            <a:pPr marL="298450" indent="-285750">
              <a:lnSpc>
                <a:spcPct val="100000"/>
              </a:lnSpc>
              <a:spcBef>
                <a:spcPts val="1920"/>
              </a:spcBef>
              <a:buFont typeface="Wingdings"/>
              <a:buChar char=""/>
              <a:tabLst>
                <a:tab pos="298450" algn="l"/>
              </a:tabLst>
            </a:pPr>
            <a:r>
              <a:rPr dirty="0" sz="1600" b="1">
                <a:solidFill>
                  <a:srgbClr val="FFFFFF"/>
                </a:solidFill>
                <a:latin typeface="Segoe UI"/>
                <a:cs typeface="Segoe UI"/>
              </a:rPr>
              <a:t>Data</a:t>
            </a:r>
            <a:r>
              <a:rPr dirty="0" sz="1600" spc="-35" b="1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sz="1600" b="1">
                <a:solidFill>
                  <a:srgbClr val="FFFFFF"/>
                </a:solidFill>
                <a:latin typeface="Segoe UI"/>
                <a:cs typeface="Segoe UI"/>
              </a:rPr>
              <a:t>Link:</a:t>
            </a:r>
            <a:r>
              <a:rPr dirty="0" sz="1600" spc="-5" b="1">
                <a:solidFill>
                  <a:srgbClr val="FFFFFF"/>
                </a:solidFill>
                <a:latin typeface="Segoe UI"/>
                <a:cs typeface="Segoe UI"/>
              </a:rPr>
              <a:t> </a:t>
            </a:r>
            <a:r>
              <a:rPr dirty="0" u="sng" sz="1600" spc="-3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Segoe UI"/>
                <a:cs typeface="Segoe UI"/>
                <a:hlinkClick r:id="rId2"/>
              </a:rPr>
              <a:t>USTC</a:t>
            </a:r>
            <a:r>
              <a:rPr dirty="0" u="sng" sz="1600" spc="-3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Segoe UI"/>
                <a:cs typeface="Segoe UI"/>
                <a:hlinkClick r:id="rId2"/>
              </a:rPr>
              <a:t>-</a:t>
            </a:r>
            <a:r>
              <a:rPr dirty="0" u="sng" sz="160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Segoe UI"/>
                <a:cs typeface="Segoe UI"/>
                <a:hlinkClick r:id="rId2"/>
              </a:rPr>
              <a:t>TFC2016</a:t>
            </a:r>
            <a:r>
              <a:rPr dirty="0" u="sng" sz="1600" spc="-25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Segoe UI"/>
                <a:cs typeface="Segoe UI"/>
                <a:hlinkClick r:id="rId2"/>
              </a:rPr>
              <a:t> </a:t>
            </a:r>
            <a:r>
              <a:rPr dirty="0" u="sng" sz="160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Segoe UI"/>
                <a:cs typeface="Segoe UI"/>
                <a:hlinkClick r:id="rId2"/>
              </a:rPr>
              <a:t>GitHub</a:t>
            </a:r>
            <a:r>
              <a:rPr dirty="0" u="sng" sz="1600" spc="-15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Segoe UI"/>
                <a:cs typeface="Segoe UI"/>
                <a:hlinkClick r:id="rId2"/>
              </a:rPr>
              <a:t> </a:t>
            </a:r>
            <a:r>
              <a:rPr dirty="0" u="sng" sz="1600" spc="-1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Segoe UI"/>
                <a:cs typeface="Segoe UI"/>
                <a:hlinkClick r:id="rId2"/>
              </a:rPr>
              <a:t>Repository</a:t>
            </a:r>
            <a:endParaRPr sz="1600">
              <a:latin typeface="Segoe UI"/>
              <a:cs typeface="Segoe UI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71016" y="4114571"/>
            <a:ext cx="10686415" cy="9956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III.</a:t>
            </a:r>
            <a:r>
              <a:rPr dirty="0" spc="-30"/>
              <a:t> </a:t>
            </a:r>
            <a:r>
              <a:rPr dirty="0"/>
              <a:t>Data</a:t>
            </a:r>
            <a:r>
              <a:rPr dirty="0" spc="-40"/>
              <a:t> </a:t>
            </a:r>
            <a:r>
              <a:rPr dirty="0"/>
              <a:t>Acquisition</a:t>
            </a:r>
            <a:r>
              <a:rPr dirty="0" spc="-50"/>
              <a:t> </a:t>
            </a:r>
            <a:r>
              <a:rPr dirty="0"/>
              <a:t>&amp;</a:t>
            </a:r>
            <a:r>
              <a:rPr dirty="0" spc="-35"/>
              <a:t> </a:t>
            </a:r>
            <a:r>
              <a:rPr dirty="0" spc="-10"/>
              <a:t>Processing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54455" y="1536308"/>
            <a:ext cx="5160645" cy="960755"/>
          </a:xfrm>
          <a:prstGeom prst="rect">
            <a:avLst/>
          </a:prstGeom>
        </p:spPr>
        <p:txBody>
          <a:bodyPr wrap="square" lIns="0" tIns="53975" rIns="0" bIns="0" rtlCol="0" vert="horz">
            <a:spAutoFit/>
          </a:bodyPr>
          <a:lstStyle/>
          <a:p>
            <a:pPr marL="284480" indent="-271780">
              <a:lnSpc>
                <a:spcPct val="100000"/>
              </a:lnSpc>
              <a:spcBef>
                <a:spcPts val="425"/>
              </a:spcBef>
              <a:buSzPct val="86666"/>
              <a:buFont typeface="Wingdings"/>
              <a:buChar char=""/>
              <a:tabLst>
                <a:tab pos="284480" algn="l"/>
              </a:tabLst>
            </a:pPr>
            <a:r>
              <a:rPr dirty="0" sz="1500">
                <a:solidFill>
                  <a:srgbClr val="FFFFFF"/>
                </a:solidFill>
                <a:latin typeface="Segoe UI Semilight"/>
                <a:cs typeface="Segoe UI Semilight"/>
              </a:rPr>
              <a:t>Data</a:t>
            </a:r>
            <a:r>
              <a:rPr dirty="0" sz="1500" spc="-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500">
                <a:solidFill>
                  <a:srgbClr val="FFFFFF"/>
                </a:solidFill>
                <a:latin typeface="Segoe UI Semilight"/>
                <a:cs typeface="Segoe UI Semilight"/>
              </a:rPr>
              <a:t>Acquisition</a:t>
            </a:r>
            <a:r>
              <a:rPr dirty="0" sz="15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Segoe UI Semilight"/>
                <a:cs typeface="Segoe UI Semilight"/>
              </a:rPr>
              <a:t>Strategy</a:t>
            </a:r>
            <a:endParaRPr sz="1500">
              <a:latin typeface="Segoe UI Semilight"/>
              <a:cs typeface="Segoe UI Semilight"/>
            </a:endParaRPr>
          </a:p>
          <a:p>
            <a:pPr lvl="1" marL="698500" marR="5080" indent="-228600">
              <a:lnSpc>
                <a:spcPct val="80000"/>
              </a:lnSpc>
              <a:spcBef>
                <a:spcPts val="509"/>
              </a:spcBef>
              <a:buFont typeface="Wingdings"/>
              <a:buChar char=""/>
              <a:tabLst>
                <a:tab pos="698500" algn="l"/>
              </a:tabLst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Target</a:t>
            </a:r>
            <a:r>
              <a:rPr dirty="0" sz="1100" spc="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Classes:</a:t>
            </a:r>
            <a:r>
              <a:rPr dirty="0" sz="1100" spc="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Focused</a:t>
            </a:r>
            <a:r>
              <a:rPr dirty="0" sz="1100" spc="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on</a:t>
            </a:r>
            <a:r>
              <a:rPr dirty="0" sz="1100" spc="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</a:t>
            </a:r>
            <a:r>
              <a:rPr dirty="0" sz="1100" spc="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6-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class</a:t>
            </a:r>
            <a:r>
              <a:rPr dirty="0" sz="1100" spc="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subset</a:t>
            </a:r>
            <a:r>
              <a:rPr dirty="0" sz="1100" spc="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containing</a:t>
            </a:r>
            <a:r>
              <a:rPr dirty="0" sz="1100" spc="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BitTorrent,</a:t>
            </a:r>
            <a:r>
              <a:rPr dirty="0" sz="1100" spc="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Cridex,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Gmail,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Skype,</a:t>
            </a:r>
            <a:r>
              <a:rPr dirty="0" sz="11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Tinba,</a:t>
            </a:r>
            <a:r>
              <a:rPr dirty="0" sz="11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and</a:t>
            </a:r>
            <a:r>
              <a:rPr dirty="0" sz="1100" spc="-20">
                <a:solidFill>
                  <a:srgbClr val="FFFFFF"/>
                </a:solidFill>
                <a:latin typeface="Segoe UI Semilight"/>
                <a:cs typeface="Segoe UI Semilight"/>
              </a:rPr>
              <a:t> Zeus.</a:t>
            </a:r>
            <a:endParaRPr sz="1100">
              <a:latin typeface="Segoe UI Semilight"/>
              <a:cs typeface="Segoe UI Semilight"/>
            </a:endParaRPr>
          </a:p>
          <a:p>
            <a:pPr lvl="1" marL="698500" marR="5715" indent="-228600">
              <a:lnSpc>
                <a:spcPts val="1060"/>
              </a:lnSpc>
              <a:spcBef>
                <a:spcPts val="490"/>
              </a:spcBef>
              <a:buFont typeface="Wingdings"/>
              <a:buChar char=""/>
              <a:tabLst>
                <a:tab pos="698500" algn="l"/>
              </a:tabLst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Sampling:</a:t>
            </a:r>
            <a:r>
              <a:rPr dirty="0" sz="1100" spc="3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Extracted</a:t>
            </a:r>
            <a:r>
              <a:rPr dirty="0" sz="1100" spc="3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1,500</a:t>
            </a:r>
            <a:r>
              <a:rPr dirty="0" sz="1100" spc="3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samples</a:t>
            </a:r>
            <a:r>
              <a:rPr dirty="0" sz="1100" spc="3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per</a:t>
            </a:r>
            <a:r>
              <a:rPr dirty="0" sz="1100" spc="3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class</a:t>
            </a:r>
            <a:r>
              <a:rPr dirty="0" sz="1100" spc="3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to</a:t>
            </a:r>
            <a:r>
              <a:rPr dirty="0" sz="1100" spc="3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maintain</a:t>
            </a:r>
            <a:r>
              <a:rPr dirty="0" sz="1100" spc="3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</a:t>
            </a:r>
            <a:r>
              <a:rPr dirty="0" sz="1100" spc="3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balanced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distribution,</a:t>
            </a:r>
            <a:r>
              <a:rPr dirty="0" sz="1100" spc="-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totaling</a:t>
            </a:r>
            <a:r>
              <a:rPr dirty="0" sz="11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9,000</a:t>
            </a:r>
            <a:r>
              <a:rPr dirty="0" sz="11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samples.</a:t>
            </a:r>
            <a:endParaRPr sz="1100">
              <a:latin typeface="Segoe UI Semilight"/>
              <a:cs typeface="Segoe UI Semilight"/>
            </a:endParaRPr>
          </a:p>
        </p:txBody>
      </p:sp>
      <p:sp>
        <p:nvSpPr>
          <p:cNvPr id="4" name="object 4" descr=""/>
          <p:cNvSpPr txBox="1"/>
          <p:nvPr/>
        </p:nvSpPr>
        <p:spPr>
          <a:xfrm>
            <a:off x="854455" y="2622610"/>
            <a:ext cx="5160645" cy="3522345"/>
          </a:xfrm>
          <a:prstGeom prst="rect">
            <a:avLst/>
          </a:prstGeom>
        </p:spPr>
        <p:txBody>
          <a:bodyPr wrap="square" lIns="0" tIns="130810" rIns="0" bIns="0" rtlCol="0" vert="horz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30"/>
              </a:spcBef>
              <a:buFont typeface="Wingdings"/>
              <a:buChar char=""/>
              <a:tabLst>
                <a:tab pos="240665" algn="l"/>
              </a:tabLst>
            </a:pPr>
            <a:r>
              <a:rPr dirty="0" sz="1700">
                <a:solidFill>
                  <a:srgbClr val="FFFFFF"/>
                </a:solidFill>
                <a:latin typeface="Segoe UI Semilight"/>
                <a:cs typeface="Segoe UI Semilight"/>
              </a:rPr>
              <a:t>Multi-Modal</a:t>
            </a:r>
            <a:r>
              <a:rPr dirty="0" sz="1700" spc="-8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700">
                <a:solidFill>
                  <a:srgbClr val="FFFFFF"/>
                </a:solidFill>
                <a:latin typeface="Segoe UI Semilight"/>
                <a:cs typeface="Segoe UI Semilight"/>
              </a:rPr>
              <a:t>Processing</a:t>
            </a:r>
            <a:r>
              <a:rPr dirty="0" sz="1700" spc="-7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Segoe UI Semilight"/>
                <a:cs typeface="Segoe UI Semilight"/>
              </a:rPr>
              <a:t>Pipeline</a:t>
            </a:r>
            <a:endParaRPr sz="1700">
              <a:latin typeface="Segoe UI Semilight"/>
              <a:cs typeface="Segoe UI Semilight"/>
            </a:endParaRPr>
          </a:p>
          <a:p>
            <a:pPr marL="240665" indent="-227965">
              <a:lnSpc>
                <a:spcPct val="100000"/>
              </a:lnSpc>
              <a:spcBef>
                <a:spcPts val="705"/>
              </a:spcBef>
              <a:buFont typeface="Wingdings"/>
              <a:buChar char=""/>
              <a:tabLst>
                <a:tab pos="240665" algn="l"/>
              </a:tabLst>
            </a:pP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A.</a:t>
            </a:r>
            <a:r>
              <a:rPr dirty="0" sz="13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Visual</a:t>
            </a:r>
            <a:r>
              <a:rPr dirty="0" sz="13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Modality</a:t>
            </a:r>
            <a:r>
              <a:rPr dirty="0" sz="13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(Greyscale</a:t>
            </a:r>
            <a:r>
              <a:rPr dirty="0" sz="1300" spc="-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 spc="-10">
                <a:solidFill>
                  <a:srgbClr val="FFFFFF"/>
                </a:solidFill>
                <a:latin typeface="Segoe UI Semilight"/>
                <a:cs typeface="Segoe UI Semilight"/>
              </a:rPr>
              <a:t>Images)</a:t>
            </a:r>
            <a:endParaRPr sz="1300">
              <a:latin typeface="Segoe UI Semilight"/>
              <a:cs typeface="Segoe UI Semilight"/>
            </a:endParaRPr>
          </a:p>
          <a:p>
            <a:pPr lvl="1" marL="697865" indent="-227965">
              <a:lnSpc>
                <a:spcPct val="100000"/>
              </a:lnSpc>
              <a:spcBef>
                <a:spcPts val="245"/>
              </a:spcBef>
              <a:buFont typeface="Wingdings"/>
              <a:buChar char=""/>
              <a:tabLst>
                <a:tab pos="697865" algn="l"/>
              </a:tabLst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Flow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Extraction:</a:t>
            </a:r>
            <a:r>
              <a:rPr dirty="0" sz="11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Packets</a:t>
            </a:r>
            <a:r>
              <a:rPr dirty="0" sz="11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are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grouped</a:t>
            </a:r>
            <a:r>
              <a:rPr dirty="0" sz="11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into</a:t>
            </a:r>
            <a:r>
              <a:rPr dirty="0" sz="11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bidirectional</a:t>
            </a:r>
            <a:r>
              <a:rPr dirty="0" sz="11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5-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tuple</a:t>
            </a:r>
            <a:r>
              <a:rPr dirty="0" sz="11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flows.</a:t>
            </a:r>
            <a:endParaRPr sz="1100">
              <a:latin typeface="Segoe UI Semilight"/>
              <a:cs typeface="Segoe UI Semilight"/>
            </a:endParaRPr>
          </a:p>
          <a:p>
            <a:pPr lvl="1" marL="698500" marR="5080" indent="-228600">
              <a:lnSpc>
                <a:spcPct val="80000"/>
              </a:lnSpc>
              <a:spcBef>
                <a:spcPts val="495"/>
              </a:spcBef>
              <a:buFont typeface="Wingdings"/>
              <a:buChar char=""/>
              <a:tabLst>
                <a:tab pos="698500" algn="l"/>
              </a:tabLst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Fixed</a:t>
            </a:r>
            <a:r>
              <a:rPr dirty="0" sz="1100" spc="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Dimensioning:</a:t>
            </a:r>
            <a:r>
              <a:rPr dirty="0" sz="1100" spc="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100" spc="-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first</a:t>
            </a:r>
            <a:r>
              <a:rPr dirty="0" sz="1100" spc="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784 bytes</a:t>
            </a:r>
            <a:r>
              <a:rPr dirty="0" sz="1100" spc="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are</a:t>
            </a:r>
            <a:r>
              <a:rPr dirty="0" sz="1100" spc="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extracted</a:t>
            </a:r>
            <a:r>
              <a:rPr dirty="0" sz="1100" spc="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and</a:t>
            </a:r>
            <a:r>
              <a:rPr dirty="0" sz="1100" spc="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reshaped</a:t>
            </a:r>
            <a:r>
              <a:rPr dirty="0" sz="1100" spc="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into</a:t>
            </a:r>
            <a:r>
              <a:rPr dirty="0" sz="1100" spc="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50">
                <a:solidFill>
                  <a:srgbClr val="FFFFFF"/>
                </a:solidFill>
                <a:latin typeface="Segoe UI Semilight"/>
                <a:cs typeface="Segoe UI Semilight"/>
              </a:rPr>
              <a:t>a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28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*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28</a:t>
            </a:r>
            <a:r>
              <a:rPr dirty="0" sz="11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normalized</a:t>
            </a:r>
            <a:r>
              <a:rPr dirty="0" sz="11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greyscale</a:t>
            </a:r>
            <a:r>
              <a:rPr dirty="0" sz="1100" spc="-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image.</a:t>
            </a:r>
            <a:endParaRPr sz="1100">
              <a:latin typeface="Segoe UI Semilight"/>
              <a:cs typeface="Segoe UI Semilight"/>
            </a:endParaRPr>
          </a:p>
          <a:p>
            <a:pPr lvl="1" marL="697865" indent="-227965">
              <a:lnSpc>
                <a:spcPts val="1190"/>
              </a:lnSpc>
              <a:spcBef>
                <a:spcPts val="240"/>
              </a:spcBef>
              <a:buFont typeface="Wingdings"/>
              <a:buChar char=""/>
              <a:tabLst>
                <a:tab pos="697865" algn="l"/>
              </a:tabLst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Header</a:t>
            </a:r>
            <a:r>
              <a:rPr dirty="0" sz="1100" spc="9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Anonymization:</a:t>
            </a:r>
            <a:r>
              <a:rPr dirty="0" sz="1100" spc="10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100" spc="10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first</a:t>
            </a:r>
            <a:r>
              <a:rPr dirty="0" sz="1100" spc="10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54</a:t>
            </a:r>
            <a:r>
              <a:rPr dirty="0" sz="1100" spc="9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bytes</a:t>
            </a:r>
            <a:r>
              <a:rPr dirty="0" sz="1100" spc="9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(L2/L3/L4</a:t>
            </a:r>
            <a:r>
              <a:rPr dirty="0" sz="1100" spc="9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headers)</a:t>
            </a:r>
            <a:r>
              <a:rPr dirty="0" sz="1100" spc="10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are</a:t>
            </a:r>
            <a:r>
              <a:rPr dirty="0" sz="1100" spc="10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zeroed</a:t>
            </a:r>
            <a:endParaRPr sz="1100">
              <a:latin typeface="Segoe UI Semilight"/>
              <a:cs typeface="Segoe UI Semilight"/>
            </a:endParaRPr>
          </a:p>
          <a:p>
            <a:pPr marL="698500" marR="6350">
              <a:lnSpc>
                <a:spcPts val="1060"/>
              </a:lnSpc>
              <a:spcBef>
                <a:spcPts val="120"/>
              </a:spcBef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to</a:t>
            </a:r>
            <a:r>
              <a:rPr dirty="0" sz="1100" spc="3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force</a:t>
            </a:r>
            <a:r>
              <a:rPr dirty="0" sz="1100" spc="3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100" spc="3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model</a:t>
            </a:r>
            <a:r>
              <a:rPr dirty="0" sz="1100" spc="3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to</a:t>
            </a:r>
            <a:r>
              <a:rPr dirty="0" sz="1100" spc="3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learn</a:t>
            </a:r>
            <a:r>
              <a:rPr dirty="0" sz="1100" spc="37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application-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specific</a:t>
            </a:r>
            <a:r>
              <a:rPr dirty="0" sz="1100" spc="37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payloads</a:t>
            </a:r>
            <a:r>
              <a:rPr dirty="0" sz="1100" spc="3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instead</a:t>
            </a:r>
            <a:r>
              <a:rPr dirty="0" sz="1100" spc="37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of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network</a:t>
            </a:r>
            <a:r>
              <a:rPr dirty="0" sz="11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routing</a:t>
            </a:r>
            <a:r>
              <a:rPr dirty="0" sz="11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metadata.</a:t>
            </a:r>
            <a:endParaRPr sz="1100">
              <a:latin typeface="Segoe UI Semilight"/>
              <a:cs typeface="Segoe UI Semilight"/>
            </a:endParaRPr>
          </a:p>
          <a:p>
            <a:pPr algn="just" marL="240665" indent="-227965">
              <a:lnSpc>
                <a:spcPts val="1190"/>
              </a:lnSpc>
              <a:spcBef>
                <a:spcPts val="735"/>
              </a:spcBef>
              <a:buFont typeface="Wingdings"/>
              <a:buChar char=""/>
              <a:tabLst>
                <a:tab pos="240665" algn="l"/>
              </a:tabLst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B.</a:t>
            </a:r>
            <a:r>
              <a:rPr dirty="0" sz="11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Statistical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Modality</a:t>
            </a:r>
            <a:r>
              <a:rPr dirty="0" sz="11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(Flow</a:t>
            </a:r>
            <a:r>
              <a:rPr dirty="0" sz="11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Physics)Specific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 session-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level</a:t>
            </a:r>
            <a:r>
              <a:rPr dirty="0" sz="1100" spc="-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metrics</a:t>
            </a:r>
            <a:r>
              <a:rPr dirty="0" sz="11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are</a:t>
            </a:r>
            <a:r>
              <a:rPr dirty="0" sz="11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calculated 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to</a:t>
            </a:r>
            <a:endParaRPr sz="1100">
              <a:latin typeface="Segoe UI Semilight"/>
              <a:cs typeface="Segoe UI Semilight"/>
            </a:endParaRPr>
          </a:p>
          <a:p>
            <a:pPr algn="just" marL="241300" marR="5080">
              <a:lnSpc>
                <a:spcPct val="80100"/>
              </a:lnSpc>
              <a:spcBef>
                <a:spcPts val="130"/>
              </a:spcBef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provide</a:t>
            </a:r>
            <a:r>
              <a:rPr dirty="0" sz="1100" spc="1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100" spc="1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StatsProjectionHead</a:t>
            </a:r>
            <a:r>
              <a:rPr dirty="0" sz="1100" spc="1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with</a:t>
            </a:r>
            <a:r>
              <a:rPr dirty="0" sz="1100" spc="10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behavioral</a:t>
            </a:r>
            <a:r>
              <a:rPr dirty="0" sz="1100" spc="10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context:Inter-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Arrival</a:t>
            </a:r>
            <a:r>
              <a:rPr dirty="0" sz="1100" spc="1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Time</a:t>
            </a:r>
            <a:r>
              <a:rPr dirty="0" sz="1100" spc="10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(IAT):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Captures</a:t>
            </a:r>
            <a:r>
              <a:rPr dirty="0" sz="1100" spc="254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100" spc="2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Mean</a:t>
            </a:r>
            <a:r>
              <a:rPr dirty="0" sz="1100" spc="2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IAT</a:t>
            </a:r>
            <a:r>
              <a:rPr dirty="0" sz="1100" spc="2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and</a:t>
            </a:r>
            <a:r>
              <a:rPr dirty="0" sz="1100" spc="2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Jitter</a:t>
            </a:r>
            <a:r>
              <a:rPr dirty="0" sz="1100" spc="254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to</a:t>
            </a:r>
            <a:r>
              <a:rPr dirty="0" sz="1100" spc="2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distinguish</a:t>
            </a:r>
            <a:r>
              <a:rPr dirty="0" sz="1100" spc="2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between</a:t>
            </a:r>
            <a:r>
              <a:rPr dirty="0" sz="1100" spc="2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bursty</a:t>
            </a:r>
            <a:r>
              <a:rPr dirty="0" sz="1100" spc="254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(Gmail)</a:t>
            </a:r>
            <a:r>
              <a:rPr dirty="0" sz="1100" spc="2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and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persistent</a:t>
            </a:r>
            <a:r>
              <a:rPr dirty="0" sz="1100" spc="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(BitTorrent)</a:t>
            </a:r>
            <a:r>
              <a:rPr dirty="0" sz="1100" spc="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protocols.Shannon</a:t>
            </a:r>
            <a:r>
              <a:rPr dirty="0" sz="1100" spc="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Entropy:</a:t>
            </a:r>
            <a:r>
              <a:rPr dirty="0" sz="1100" spc="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Measures</a:t>
            </a:r>
            <a:r>
              <a:rPr dirty="0" sz="1100" spc="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byte</a:t>
            </a:r>
            <a:r>
              <a:rPr dirty="0" sz="1100" spc="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randomness</a:t>
            </a:r>
            <a:r>
              <a:rPr dirty="0" sz="1100" spc="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to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identify</a:t>
            </a:r>
            <a:r>
              <a:rPr dirty="0" sz="11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level</a:t>
            </a:r>
            <a:r>
              <a:rPr dirty="0" sz="11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of</a:t>
            </a:r>
            <a:r>
              <a:rPr dirty="0" sz="11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encryption</a:t>
            </a:r>
            <a:r>
              <a:rPr dirty="0" sz="11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or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obfuscation</a:t>
            </a:r>
            <a:r>
              <a:rPr dirty="0" sz="11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in</a:t>
            </a:r>
            <a:r>
              <a:rPr dirty="0" sz="11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payload.</a:t>
            </a:r>
            <a:endParaRPr sz="1100">
              <a:latin typeface="Segoe UI Semilight"/>
              <a:cs typeface="Segoe UI Semilight"/>
            </a:endParaRPr>
          </a:p>
          <a:p>
            <a:pPr marL="241300" marR="6350" indent="-228600">
              <a:lnSpc>
                <a:spcPts val="1250"/>
              </a:lnSpc>
              <a:spcBef>
                <a:spcPts val="990"/>
              </a:spcBef>
              <a:buFont typeface="Wingdings"/>
              <a:buChar char=""/>
              <a:tabLst>
                <a:tab pos="241300" algn="l"/>
              </a:tabLst>
            </a:pP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C.</a:t>
            </a:r>
            <a:r>
              <a:rPr dirty="0" sz="1300" spc="18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Data</a:t>
            </a:r>
            <a:r>
              <a:rPr dirty="0" sz="1300" spc="19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Structuring</a:t>
            </a:r>
            <a:r>
              <a:rPr dirty="0" sz="1300" spc="19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&amp;</a:t>
            </a:r>
            <a:r>
              <a:rPr dirty="0" sz="1300" spc="18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StorageThe</a:t>
            </a:r>
            <a:r>
              <a:rPr dirty="0" sz="1300" spc="18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processed</a:t>
            </a:r>
            <a:r>
              <a:rPr dirty="0" sz="1300" spc="18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data</a:t>
            </a:r>
            <a:r>
              <a:rPr dirty="0" sz="1300" spc="18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is</a:t>
            </a:r>
            <a:r>
              <a:rPr dirty="0" sz="1300" spc="19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exported</a:t>
            </a:r>
            <a:r>
              <a:rPr dirty="0" sz="1300" spc="204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as</a:t>
            </a:r>
            <a:r>
              <a:rPr dirty="0" sz="1300" spc="18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 spc="-50">
                <a:solidFill>
                  <a:srgbClr val="FFFFFF"/>
                </a:solidFill>
                <a:latin typeface="Segoe UI Semilight"/>
                <a:cs typeface="Segoe UI Semilight"/>
              </a:rPr>
              <a:t>a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compressed</a:t>
            </a:r>
            <a:r>
              <a:rPr dirty="0" sz="1300" spc="-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NumPy</a:t>
            </a:r>
            <a:r>
              <a:rPr dirty="0" sz="1300" spc="-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(.npz)</a:t>
            </a:r>
            <a:r>
              <a:rPr dirty="0" sz="1300" spc="-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>
                <a:solidFill>
                  <a:srgbClr val="FFFFFF"/>
                </a:solidFill>
                <a:latin typeface="Segoe UI Semilight"/>
                <a:cs typeface="Segoe UI Semilight"/>
              </a:rPr>
              <a:t>archive</a:t>
            </a:r>
            <a:r>
              <a:rPr dirty="0" sz="1300" spc="-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300" spc="-10">
                <a:solidFill>
                  <a:srgbClr val="FFFFFF"/>
                </a:solidFill>
                <a:latin typeface="Segoe UI Semilight"/>
                <a:cs typeface="Segoe UI Semilight"/>
              </a:rPr>
              <a:t>containing:</a:t>
            </a:r>
            <a:endParaRPr sz="1300">
              <a:latin typeface="Segoe UI Semilight"/>
              <a:cs typeface="Segoe UI Semilight"/>
            </a:endParaRPr>
          </a:p>
          <a:p>
            <a:pPr lvl="1" marL="697865" indent="-227965">
              <a:lnSpc>
                <a:spcPct val="100000"/>
              </a:lnSpc>
              <a:spcBef>
                <a:spcPts val="244"/>
              </a:spcBef>
              <a:buFont typeface="Wingdings"/>
              <a:buChar char=""/>
              <a:tabLst>
                <a:tab pos="697865" algn="l"/>
              </a:tabLst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Visual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Samples:</a:t>
            </a:r>
            <a:r>
              <a:rPr dirty="0" sz="1100" spc="-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reshaped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28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*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28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image</a:t>
            </a:r>
            <a:r>
              <a:rPr dirty="0" sz="11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tensors.</a:t>
            </a:r>
            <a:endParaRPr sz="1100">
              <a:latin typeface="Segoe UI Semilight"/>
              <a:cs typeface="Segoe UI Semilight"/>
            </a:endParaRPr>
          </a:p>
          <a:p>
            <a:pPr lvl="1" marL="697865" indent="-227965">
              <a:lnSpc>
                <a:spcPct val="100000"/>
              </a:lnSpc>
              <a:spcBef>
                <a:spcPts val="240"/>
              </a:spcBef>
              <a:buFont typeface="Wingdings"/>
              <a:buChar char=""/>
              <a:tabLst>
                <a:tab pos="697865" algn="l"/>
              </a:tabLst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Physics</a:t>
            </a:r>
            <a:r>
              <a:rPr dirty="0" sz="11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Tensors:</a:t>
            </a:r>
            <a:r>
              <a:rPr dirty="0" sz="11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3-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element</a:t>
            </a:r>
            <a:r>
              <a:rPr dirty="0" sz="1100" spc="-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vectors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[Mean</a:t>
            </a:r>
            <a:r>
              <a:rPr dirty="0" sz="11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IAT,</a:t>
            </a:r>
            <a:r>
              <a:rPr dirty="0" sz="1100" spc="-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Jitter,</a:t>
            </a:r>
            <a:r>
              <a:rPr dirty="0" sz="11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Entropy].</a:t>
            </a:r>
            <a:endParaRPr sz="1100">
              <a:latin typeface="Segoe UI Semilight"/>
              <a:cs typeface="Segoe UI Semilight"/>
            </a:endParaRPr>
          </a:p>
          <a:p>
            <a:pPr lvl="1" marL="697865" indent="-227965">
              <a:lnSpc>
                <a:spcPct val="100000"/>
              </a:lnSpc>
              <a:spcBef>
                <a:spcPts val="240"/>
              </a:spcBef>
              <a:buFont typeface="Wingdings"/>
              <a:buChar char=""/>
              <a:tabLst>
                <a:tab pos="697865" algn="l"/>
              </a:tabLst>
            </a:pP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Categorical</a:t>
            </a:r>
            <a:r>
              <a:rPr dirty="0" sz="11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Labels:</a:t>
            </a:r>
            <a:r>
              <a:rPr dirty="0" sz="11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Integer-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mapped</a:t>
            </a:r>
            <a:r>
              <a:rPr dirty="0" sz="11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IDs for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>
                <a:solidFill>
                  <a:srgbClr val="FFFFFF"/>
                </a:solidFill>
                <a:latin typeface="Segoe UI Semilight"/>
                <a:cs typeface="Segoe UI Semilight"/>
              </a:rPr>
              <a:t>supervised</a:t>
            </a:r>
            <a:r>
              <a:rPr dirty="0" sz="11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100" spc="-10">
                <a:solidFill>
                  <a:srgbClr val="FFFFFF"/>
                </a:solidFill>
                <a:latin typeface="Segoe UI Semilight"/>
                <a:cs typeface="Segoe UI Semilight"/>
              </a:rPr>
              <a:t>learning.</a:t>
            </a:r>
            <a:endParaRPr sz="1100">
              <a:latin typeface="Segoe UI Semilight"/>
              <a:cs typeface="Segoe UI Semilight"/>
            </a:endParaRPr>
          </a:p>
        </p:txBody>
      </p:sp>
      <p:sp>
        <p:nvSpPr>
          <p:cNvPr id="5" name="object 5" descr=""/>
          <p:cNvSpPr/>
          <p:nvPr/>
        </p:nvSpPr>
        <p:spPr>
          <a:xfrm>
            <a:off x="6133338" y="1876805"/>
            <a:ext cx="0" cy="4250055"/>
          </a:xfrm>
          <a:custGeom>
            <a:avLst/>
            <a:gdLst/>
            <a:ahLst/>
            <a:cxnLst/>
            <a:rect l="l" t="t" r="r" b="b"/>
            <a:pathLst>
              <a:path w="0" h="4250055">
                <a:moveTo>
                  <a:pt x="0" y="0"/>
                </a:moveTo>
                <a:lnTo>
                  <a:pt x="0" y="4249470"/>
                </a:lnTo>
              </a:path>
            </a:pathLst>
          </a:custGeom>
          <a:ln w="6350">
            <a:solidFill>
              <a:srgbClr val="7E7E7E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 descr=""/>
          <p:cNvSpPr txBox="1"/>
          <p:nvPr/>
        </p:nvSpPr>
        <p:spPr>
          <a:xfrm>
            <a:off x="6467347" y="1917573"/>
            <a:ext cx="2433955" cy="26924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289560" indent="-276860">
              <a:lnSpc>
                <a:spcPct val="100000"/>
              </a:lnSpc>
              <a:spcBef>
                <a:spcPts val="95"/>
              </a:spcBef>
              <a:buSzPct val="87500"/>
              <a:buFont typeface="Wingdings"/>
              <a:buChar char=""/>
              <a:tabLst>
                <a:tab pos="289560" algn="l"/>
              </a:tabLst>
            </a:pP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Processed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Binary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 Image:</a:t>
            </a:r>
            <a:endParaRPr sz="1600">
              <a:latin typeface="Segoe UI Semilight"/>
              <a:cs typeface="Segoe UI Semilight"/>
            </a:endParaRPr>
          </a:p>
        </p:txBody>
      </p:sp>
      <p:pic>
        <p:nvPicPr>
          <p:cNvPr id="7" name="object 7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79207" y="2435567"/>
            <a:ext cx="3333750" cy="3276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</a:t>
            </a:r>
            <a:r>
              <a:rPr dirty="0" spc="-630"/>
              <a:t>V</a:t>
            </a:r>
            <a:r>
              <a:rPr dirty="0"/>
              <a:t>.</a:t>
            </a:r>
            <a:r>
              <a:rPr dirty="0" spc="-15"/>
              <a:t> </a:t>
            </a:r>
            <a:r>
              <a:rPr dirty="0"/>
              <a:t>Model</a:t>
            </a:r>
            <a:r>
              <a:rPr dirty="0" spc="-25"/>
              <a:t> </a:t>
            </a:r>
            <a:r>
              <a:rPr dirty="0" spc="-10"/>
              <a:t>Comparison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54455" y="1920620"/>
            <a:ext cx="4998720" cy="78740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89560" indent="-27686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89560" algn="l"/>
              </a:tabLst>
            </a:pPr>
            <a:r>
              <a:rPr dirty="0" sz="1400">
                <a:solidFill>
                  <a:srgbClr val="FFFFFF"/>
                </a:solidFill>
                <a:latin typeface="Segoe UI Semilight"/>
                <a:cs typeface="Segoe UI Semilight"/>
              </a:rPr>
              <a:t>Original</a:t>
            </a:r>
            <a:r>
              <a:rPr dirty="0" sz="1400" spc="-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Segoe UI Semilight"/>
                <a:cs typeface="Segoe UI Semilight"/>
              </a:rPr>
              <a:t>Architecture:</a:t>
            </a:r>
            <a:endParaRPr sz="1400">
              <a:latin typeface="Segoe UI Semilight"/>
              <a:cs typeface="Segoe UI Semilight"/>
            </a:endParaRPr>
          </a:p>
          <a:p>
            <a:pPr>
              <a:lnSpc>
                <a:spcPct val="100000"/>
              </a:lnSpc>
              <a:spcBef>
                <a:spcPts val="1010"/>
              </a:spcBef>
              <a:buClr>
                <a:srgbClr val="FFFFFF"/>
              </a:buClr>
              <a:buFont typeface="Wingdings"/>
              <a:buChar char=""/>
            </a:pPr>
            <a:endParaRPr sz="1400">
              <a:latin typeface="Segoe UI Semilight"/>
              <a:cs typeface="Segoe UI Semilight"/>
            </a:endParaRPr>
          </a:p>
          <a:p>
            <a:pPr lvl="1" marL="697865" indent="-227965">
              <a:lnSpc>
                <a:spcPct val="100000"/>
              </a:lnSpc>
              <a:buFont typeface="Wingdings"/>
              <a:buChar char=""/>
              <a:tabLst>
                <a:tab pos="697865" algn="l"/>
              </a:tabLst>
            </a:pP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Original</a:t>
            </a:r>
            <a:r>
              <a:rPr dirty="0" sz="12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prompts</a:t>
            </a:r>
            <a:r>
              <a:rPr dirty="0" sz="12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(Eg</a:t>
            </a:r>
            <a:r>
              <a:rPr dirty="0" sz="12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: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A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network</a:t>
            </a:r>
            <a:r>
              <a:rPr dirty="0" sz="12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traffic</a:t>
            </a:r>
            <a:r>
              <a:rPr dirty="0" sz="12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gray</a:t>
            </a:r>
            <a:r>
              <a:rPr dirty="0" sz="12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photo</a:t>
            </a:r>
            <a:r>
              <a:rPr dirty="0" sz="12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of</a:t>
            </a:r>
            <a:r>
              <a:rPr dirty="0" sz="1200" spc="-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class</a:t>
            </a:r>
            <a:r>
              <a:rPr dirty="0" sz="12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 spc="-10">
                <a:solidFill>
                  <a:srgbClr val="FFFFFF"/>
                </a:solidFill>
                <a:latin typeface="Segoe UI Semilight"/>
                <a:cs typeface="Segoe UI Semilight"/>
              </a:rPr>
              <a:t>Gmail)</a:t>
            </a:r>
            <a:endParaRPr sz="1200">
              <a:latin typeface="Segoe UI Semilight"/>
              <a:cs typeface="Segoe UI Semilight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4459" y="3513670"/>
            <a:ext cx="5914644" cy="2464435"/>
          </a:xfrm>
          <a:prstGeom prst="rect">
            <a:avLst/>
          </a:prstGeom>
        </p:spPr>
      </p:pic>
      <p:pic>
        <p:nvPicPr>
          <p:cNvPr id="5" name="object 5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40728" y="1982444"/>
            <a:ext cx="5109718" cy="4087749"/>
          </a:xfrm>
          <a:prstGeom prst="rect">
            <a:avLst/>
          </a:prstGeom>
        </p:spPr>
      </p:pic>
      <p:sp>
        <p:nvSpPr>
          <p:cNvPr id="6" name="object 6" descr=""/>
          <p:cNvSpPr/>
          <p:nvPr/>
        </p:nvSpPr>
        <p:spPr>
          <a:xfrm>
            <a:off x="6624955" y="1919985"/>
            <a:ext cx="0" cy="4249420"/>
          </a:xfrm>
          <a:custGeom>
            <a:avLst/>
            <a:gdLst/>
            <a:ahLst/>
            <a:cxnLst/>
            <a:rect l="l" t="t" r="r" b="b"/>
            <a:pathLst>
              <a:path w="0" h="4249420">
                <a:moveTo>
                  <a:pt x="0" y="0"/>
                </a:moveTo>
                <a:lnTo>
                  <a:pt x="0" y="4249420"/>
                </a:lnTo>
              </a:path>
            </a:pathLst>
          </a:custGeom>
          <a:ln w="6350">
            <a:solidFill>
              <a:srgbClr val="7E7E7E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</a:t>
            </a:r>
            <a:r>
              <a:rPr dirty="0" spc="-630"/>
              <a:t>V</a:t>
            </a:r>
            <a:r>
              <a:rPr dirty="0"/>
              <a:t>.</a:t>
            </a:r>
            <a:r>
              <a:rPr dirty="0" spc="-15"/>
              <a:t> </a:t>
            </a:r>
            <a:r>
              <a:rPr dirty="0"/>
              <a:t>Model</a:t>
            </a:r>
            <a:r>
              <a:rPr dirty="0" spc="-25"/>
              <a:t> </a:t>
            </a:r>
            <a:r>
              <a:rPr dirty="0" spc="-10"/>
              <a:t>Comparison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54455" y="1920620"/>
            <a:ext cx="5393690" cy="95250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89560" indent="-27686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89560" algn="l"/>
              </a:tabLst>
            </a:pPr>
            <a:r>
              <a:rPr dirty="0" sz="1400">
                <a:solidFill>
                  <a:srgbClr val="FFFFFF"/>
                </a:solidFill>
                <a:latin typeface="Segoe UI Semilight"/>
                <a:cs typeface="Segoe UI Semilight"/>
              </a:rPr>
              <a:t>Original</a:t>
            </a:r>
            <a:r>
              <a:rPr dirty="0" sz="1400" spc="-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Segoe UI Semilight"/>
                <a:cs typeface="Segoe UI Semilight"/>
              </a:rPr>
              <a:t>Architecture:</a:t>
            </a:r>
            <a:endParaRPr sz="1400">
              <a:latin typeface="Segoe UI Semilight"/>
              <a:cs typeface="Segoe UI Semilight"/>
            </a:endParaRPr>
          </a:p>
          <a:p>
            <a:pPr>
              <a:lnSpc>
                <a:spcPct val="100000"/>
              </a:lnSpc>
              <a:spcBef>
                <a:spcPts val="1170"/>
              </a:spcBef>
              <a:buClr>
                <a:srgbClr val="FFFFFF"/>
              </a:buClr>
              <a:buFont typeface="Wingdings"/>
              <a:buChar char=""/>
            </a:pPr>
            <a:endParaRPr sz="1400">
              <a:latin typeface="Segoe UI Semilight"/>
              <a:cs typeface="Segoe UI Semilight"/>
            </a:endParaRPr>
          </a:p>
          <a:p>
            <a:pPr lvl="1" marL="698500" marR="5080" indent="-228600">
              <a:lnSpc>
                <a:spcPts val="1300"/>
              </a:lnSpc>
              <a:buFont typeface="Wingdings"/>
              <a:buChar char=""/>
              <a:tabLst>
                <a:tab pos="698500" algn="l"/>
              </a:tabLst>
            </a:pP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Semantic</a:t>
            </a:r>
            <a:r>
              <a:rPr dirty="0" sz="1200" spc="27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prompts</a:t>
            </a:r>
            <a:r>
              <a:rPr dirty="0" sz="12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(Eg</a:t>
            </a:r>
            <a:r>
              <a:rPr dirty="0" sz="12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:</a:t>
            </a:r>
            <a:r>
              <a:rPr dirty="0" sz="1200" spc="-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A</a:t>
            </a:r>
            <a:r>
              <a:rPr dirty="0" sz="1200" spc="-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network</a:t>
            </a:r>
            <a:r>
              <a:rPr dirty="0" sz="12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traffic</a:t>
            </a:r>
            <a:r>
              <a:rPr dirty="0" sz="12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gray</a:t>
            </a:r>
            <a:r>
              <a:rPr dirty="0" sz="1200" spc="-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photo</a:t>
            </a:r>
            <a:r>
              <a:rPr dirty="0" sz="12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of</a:t>
            </a:r>
            <a:r>
              <a:rPr dirty="0" sz="12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class</a:t>
            </a:r>
            <a:r>
              <a:rPr dirty="0" sz="12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Gmail</a:t>
            </a:r>
            <a:r>
              <a:rPr dirty="0" sz="12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 spc="-20">
                <a:solidFill>
                  <a:srgbClr val="FFFFFF"/>
                </a:solidFill>
                <a:latin typeface="Segoe UI Semilight"/>
                <a:cs typeface="Segoe UI Semilight"/>
              </a:rPr>
              <a:t>with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24.50ms</a:t>
            </a:r>
            <a:r>
              <a:rPr dirty="0" sz="12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mean</a:t>
            </a:r>
            <a:r>
              <a:rPr dirty="0" sz="12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 spc="-40">
                <a:solidFill>
                  <a:srgbClr val="FFFFFF"/>
                </a:solidFill>
                <a:latin typeface="Segoe UI Semilight"/>
                <a:cs typeface="Segoe UI Semilight"/>
              </a:rPr>
              <a:t>IAT,</a:t>
            </a:r>
            <a:r>
              <a:rPr dirty="0" sz="1200" spc="-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12.15ms</a:t>
            </a:r>
            <a:r>
              <a:rPr dirty="0" sz="12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 spc="-10">
                <a:solidFill>
                  <a:srgbClr val="FFFFFF"/>
                </a:solidFill>
                <a:latin typeface="Segoe UI Semilight"/>
                <a:cs typeface="Segoe UI Semilight"/>
              </a:rPr>
              <a:t>jitter,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and</a:t>
            </a:r>
            <a:r>
              <a:rPr dirty="0" sz="12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7.92</a:t>
            </a:r>
            <a:r>
              <a:rPr dirty="0" sz="12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byte</a:t>
            </a:r>
            <a:r>
              <a:rPr dirty="0" sz="12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 spc="-10">
                <a:solidFill>
                  <a:srgbClr val="FFFFFF"/>
                </a:solidFill>
                <a:latin typeface="Segoe UI Semilight"/>
                <a:cs typeface="Segoe UI Semilight"/>
              </a:rPr>
              <a:t>entropy</a:t>
            </a:r>
            <a:r>
              <a:rPr dirty="0" sz="1200" spc="-10">
                <a:solidFill>
                  <a:srgbClr val="585858"/>
                </a:solidFill>
                <a:latin typeface="Segoe UI Semilight"/>
                <a:cs typeface="Segoe UI Semilight"/>
              </a:rPr>
              <a:t>.</a:t>
            </a:r>
            <a:r>
              <a:rPr dirty="0" sz="1200" spc="-10">
                <a:solidFill>
                  <a:srgbClr val="FFFFFF"/>
                </a:solidFill>
                <a:latin typeface="Segoe UI Semilight"/>
                <a:cs typeface="Segoe UI Semilight"/>
              </a:rPr>
              <a:t>)</a:t>
            </a:r>
            <a:endParaRPr sz="1200">
              <a:latin typeface="Segoe UI Semilight"/>
              <a:cs typeface="Segoe UI Semilight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6966" y="3364255"/>
            <a:ext cx="5994400" cy="2497708"/>
          </a:xfrm>
          <a:prstGeom prst="rect">
            <a:avLst/>
          </a:prstGeom>
        </p:spPr>
      </p:pic>
      <p:sp>
        <p:nvSpPr>
          <p:cNvPr id="5" name="object 5" descr=""/>
          <p:cNvSpPr/>
          <p:nvPr/>
        </p:nvSpPr>
        <p:spPr>
          <a:xfrm>
            <a:off x="6781292" y="2116708"/>
            <a:ext cx="0" cy="4330065"/>
          </a:xfrm>
          <a:custGeom>
            <a:avLst/>
            <a:gdLst/>
            <a:ahLst/>
            <a:cxnLst/>
            <a:rect l="l" t="t" r="r" b="b"/>
            <a:pathLst>
              <a:path w="0" h="4330065">
                <a:moveTo>
                  <a:pt x="0" y="0"/>
                </a:moveTo>
                <a:lnTo>
                  <a:pt x="0" y="4330065"/>
                </a:lnTo>
              </a:path>
            </a:pathLst>
          </a:custGeom>
          <a:ln w="6350">
            <a:solidFill>
              <a:srgbClr val="7E7E7E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6" name="object 6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27240" y="2517571"/>
            <a:ext cx="4710430" cy="37683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</a:t>
            </a:r>
            <a:r>
              <a:rPr dirty="0" spc="-630"/>
              <a:t>V</a:t>
            </a:r>
            <a:r>
              <a:rPr dirty="0"/>
              <a:t>.</a:t>
            </a:r>
            <a:r>
              <a:rPr dirty="0" spc="-15"/>
              <a:t> </a:t>
            </a:r>
            <a:r>
              <a:rPr dirty="0"/>
              <a:t>Model</a:t>
            </a:r>
            <a:r>
              <a:rPr dirty="0" spc="-25"/>
              <a:t> </a:t>
            </a:r>
            <a:r>
              <a:rPr dirty="0" spc="-10"/>
              <a:t>Comparison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54455" y="1920620"/>
            <a:ext cx="1872614" cy="23939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89560" indent="-27686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89560" algn="l"/>
              </a:tabLst>
            </a:pPr>
            <a:r>
              <a:rPr dirty="0" sz="1400">
                <a:solidFill>
                  <a:srgbClr val="FFFFFF"/>
                </a:solidFill>
                <a:latin typeface="Segoe UI Semilight"/>
                <a:cs typeface="Segoe UI Semilight"/>
              </a:rPr>
              <a:t>Metrics</a:t>
            </a:r>
            <a:r>
              <a:rPr dirty="0" sz="1400" spc="-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Segoe UI Semilight"/>
                <a:cs typeface="Segoe UI Semilight"/>
              </a:rPr>
              <a:t>Comparison:</a:t>
            </a:r>
            <a:endParaRPr sz="1400">
              <a:latin typeface="Segoe UI Semilight"/>
              <a:cs typeface="Segoe UI Semilight"/>
            </a:endParaRPr>
          </a:p>
        </p:txBody>
      </p:sp>
      <p:graphicFrame>
        <p:nvGraphicFramePr>
          <p:cNvPr id="4" name="object 4" descr=""/>
          <p:cNvGraphicFramePr>
            <a:graphicFrameLocks noGrp="1"/>
          </p:cNvGraphicFramePr>
          <p:nvPr/>
        </p:nvGraphicFramePr>
        <p:xfrm>
          <a:off x="2823082" y="2823336"/>
          <a:ext cx="5955030" cy="24326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1565"/>
                <a:gridCol w="1255395"/>
                <a:gridCol w="1268094"/>
                <a:gridCol w="1091564"/>
                <a:gridCol w="1160144"/>
              </a:tblGrid>
              <a:tr h="810895">
                <a:tc>
                  <a:txBody>
                    <a:bodyPr/>
                    <a:lstStyle/>
                    <a:p>
                      <a:pPr marL="18097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dirty="0" sz="12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Experiment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B="0" marT="4318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dirty="0" sz="12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Accuracy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B="0" marT="4318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dirty="0" sz="12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Precision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B="0" marT="4318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5941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dirty="0" sz="1200" spc="-1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Recall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B="0" marT="4318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702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dirty="0" sz="12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Macro</a:t>
                      </a:r>
                      <a:r>
                        <a:rPr dirty="0" sz="1200" spc="-5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200" spc="-25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B="0" marT="4318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  <a:tr h="810895">
                <a:tc>
                  <a:txBody>
                    <a:bodyPr/>
                    <a:lstStyle/>
                    <a:p>
                      <a:pPr marL="261620" marR="252095" indent="177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Original prompts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0.1590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0.0031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0.1316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0.0360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9554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0.1590</a:t>
                      </a:r>
                      <a:r>
                        <a:rPr dirty="0" sz="1200" spc="-4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5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endParaRPr sz="1200">
                        <a:latin typeface="Segoe UI"/>
                        <a:cs typeface="Segoe UI"/>
                      </a:endParaRPr>
                    </a:p>
                    <a:p>
                      <a:pPr marL="322580">
                        <a:lnSpc>
                          <a:spcPct val="100000"/>
                        </a:lnSpc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0.0031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115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0.1191</a:t>
                      </a:r>
                      <a:r>
                        <a:rPr dirty="0" sz="1200" spc="-4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5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endParaRPr sz="1200">
                        <a:latin typeface="Segoe UI"/>
                        <a:cs typeface="Segoe UI"/>
                      </a:endParaRPr>
                    </a:p>
                    <a:p>
                      <a:pPr marL="358775">
                        <a:lnSpc>
                          <a:spcPct val="100000"/>
                        </a:lnSpc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0.0038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  <a:tr h="810895">
                <a:tc>
                  <a:txBody>
                    <a:bodyPr/>
                    <a:lstStyle/>
                    <a:p>
                      <a:pPr marL="261620" marR="229870" indent="-2286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Semantic prompts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0.2410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0.0041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0.2525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0.0024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9554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0.2410</a:t>
                      </a:r>
                      <a:r>
                        <a:rPr dirty="0" sz="1200" spc="-4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5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endParaRPr sz="1200">
                        <a:latin typeface="Segoe UI"/>
                        <a:cs typeface="Segoe UI"/>
                      </a:endParaRPr>
                    </a:p>
                    <a:p>
                      <a:pPr marL="322580">
                        <a:lnSpc>
                          <a:spcPct val="100000"/>
                        </a:lnSpc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0.0041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115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0.1278</a:t>
                      </a:r>
                      <a:r>
                        <a:rPr dirty="0" sz="1200" spc="-4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5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endParaRPr sz="1200">
                        <a:latin typeface="Segoe UI"/>
                        <a:cs typeface="Segoe UI"/>
                      </a:endParaRPr>
                    </a:p>
                    <a:p>
                      <a:pPr marL="358775">
                        <a:lnSpc>
                          <a:spcPct val="100000"/>
                        </a:lnSpc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0.0030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</a:t>
            </a:r>
            <a:r>
              <a:rPr dirty="0" spc="-630"/>
              <a:t>V</a:t>
            </a:r>
            <a:r>
              <a:rPr dirty="0"/>
              <a:t>.</a:t>
            </a:r>
            <a:r>
              <a:rPr dirty="0" spc="-15"/>
              <a:t> </a:t>
            </a:r>
            <a:r>
              <a:rPr dirty="0"/>
              <a:t>Model</a:t>
            </a:r>
            <a:r>
              <a:rPr dirty="0" spc="-25"/>
              <a:t> </a:t>
            </a:r>
            <a:r>
              <a:rPr dirty="0" spc="-10"/>
              <a:t>Comparison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54455" y="1920620"/>
            <a:ext cx="3133725" cy="78740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89560" indent="-27686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89560" algn="l"/>
              </a:tabLst>
            </a:pPr>
            <a:r>
              <a:rPr dirty="0" sz="1400">
                <a:solidFill>
                  <a:srgbClr val="FFFFFF"/>
                </a:solidFill>
                <a:latin typeface="Segoe UI Semilight"/>
                <a:cs typeface="Segoe UI Semilight"/>
              </a:rPr>
              <a:t>Proposed</a:t>
            </a:r>
            <a:r>
              <a:rPr dirty="0" sz="1400" spc="3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Segoe UI Semilight"/>
                <a:cs typeface="Segoe UI Semilight"/>
              </a:rPr>
              <a:t>Architecture:</a:t>
            </a:r>
            <a:endParaRPr sz="1400">
              <a:latin typeface="Segoe UI Semilight"/>
              <a:cs typeface="Segoe UI Semilight"/>
            </a:endParaRPr>
          </a:p>
          <a:p>
            <a:pPr>
              <a:lnSpc>
                <a:spcPct val="100000"/>
              </a:lnSpc>
              <a:spcBef>
                <a:spcPts val="1010"/>
              </a:spcBef>
              <a:buClr>
                <a:srgbClr val="FFFFFF"/>
              </a:buClr>
              <a:buFont typeface="Wingdings"/>
              <a:buChar char=""/>
            </a:pPr>
            <a:endParaRPr sz="1400">
              <a:latin typeface="Segoe UI Semilight"/>
              <a:cs typeface="Segoe UI Semilight"/>
            </a:endParaRPr>
          </a:p>
          <a:p>
            <a:pPr lvl="1" marL="697865" indent="-227965">
              <a:lnSpc>
                <a:spcPct val="100000"/>
              </a:lnSpc>
              <a:buFont typeface="Wingdings"/>
              <a:buChar char=""/>
              <a:tabLst>
                <a:tab pos="697865" algn="l"/>
              </a:tabLst>
            </a:pP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Original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prompts</a:t>
            </a:r>
            <a:r>
              <a:rPr dirty="0" sz="1200" spc="27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and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no</a:t>
            </a:r>
            <a:r>
              <a:rPr dirty="0" sz="12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Stats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 spc="-20">
                <a:solidFill>
                  <a:srgbClr val="FFFFFF"/>
                </a:solidFill>
                <a:latin typeface="Segoe UI Semilight"/>
                <a:cs typeface="Segoe UI Semilight"/>
              </a:rPr>
              <a:t>Head:</a:t>
            </a:r>
            <a:endParaRPr sz="1200">
              <a:latin typeface="Segoe UI Semilight"/>
              <a:cs typeface="Segoe UI Semilight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7138" y="3530587"/>
            <a:ext cx="5880227" cy="2450083"/>
          </a:xfrm>
          <a:prstGeom prst="rect">
            <a:avLst/>
          </a:prstGeom>
        </p:spPr>
      </p:pic>
      <p:sp>
        <p:nvSpPr>
          <p:cNvPr id="5" name="object 5" descr=""/>
          <p:cNvSpPr/>
          <p:nvPr/>
        </p:nvSpPr>
        <p:spPr>
          <a:xfrm>
            <a:off x="6828155" y="2055367"/>
            <a:ext cx="0" cy="4250055"/>
          </a:xfrm>
          <a:custGeom>
            <a:avLst/>
            <a:gdLst/>
            <a:ahLst/>
            <a:cxnLst/>
            <a:rect l="l" t="t" r="r" b="b"/>
            <a:pathLst>
              <a:path w="0" h="4250055">
                <a:moveTo>
                  <a:pt x="0" y="0"/>
                </a:moveTo>
                <a:lnTo>
                  <a:pt x="0" y="4249496"/>
                </a:lnTo>
              </a:path>
            </a:pathLst>
          </a:custGeom>
          <a:ln w="6350">
            <a:solidFill>
              <a:srgbClr val="7E7E7E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6" name="object 6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33641" y="2241435"/>
            <a:ext cx="4846828" cy="38774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</a:t>
            </a:r>
            <a:r>
              <a:rPr dirty="0" spc="-630"/>
              <a:t>V</a:t>
            </a:r>
            <a:r>
              <a:rPr dirty="0"/>
              <a:t>.</a:t>
            </a:r>
            <a:r>
              <a:rPr dirty="0" spc="-15"/>
              <a:t> </a:t>
            </a:r>
            <a:r>
              <a:rPr dirty="0"/>
              <a:t>Model</a:t>
            </a:r>
            <a:r>
              <a:rPr dirty="0" spc="-25"/>
              <a:t> </a:t>
            </a:r>
            <a:r>
              <a:rPr dirty="0" spc="-10"/>
              <a:t>Comparison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54455" y="1920620"/>
            <a:ext cx="3213100" cy="78740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89560" indent="-27686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89560" algn="l"/>
              </a:tabLst>
            </a:pPr>
            <a:r>
              <a:rPr dirty="0" sz="1400">
                <a:solidFill>
                  <a:srgbClr val="FFFFFF"/>
                </a:solidFill>
                <a:latin typeface="Segoe UI Semilight"/>
                <a:cs typeface="Segoe UI Semilight"/>
              </a:rPr>
              <a:t>Proposed</a:t>
            </a:r>
            <a:r>
              <a:rPr dirty="0" sz="1400" spc="3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Segoe UI Semilight"/>
                <a:cs typeface="Segoe UI Semilight"/>
              </a:rPr>
              <a:t>Architecture:</a:t>
            </a:r>
            <a:endParaRPr sz="1400">
              <a:latin typeface="Segoe UI Semilight"/>
              <a:cs typeface="Segoe UI Semilight"/>
            </a:endParaRPr>
          </a:p>
          <a:p>
            <a:pPr>
              <a:lnSpc>
                <a:spcPct val="100000"/>
              </a:lnSpc>
              <a:spcBef>
                <a:spcPts val="1010"/>
              </a:spcBef>
              <a:buClr>
                <a:srgbClr val="FFFFFF"/>
              </a:buClr>
              <a:buFont typeface="Wingdings"/>
              <a:buChar char=""/>
            </a:pPr>
            <a:endParaRPr sz="1400">
              <a:latin typeface="Segoe UI Semilight"/>
              <a:cs typeface="Segoe UI Semilight"/>
            </a:endParaRPr>
          </a:p>
          <a:p>
            <a:pPr lvl="1" marL="697865" indent="-227965">
              <a:lnSpc>
                <a:spcPct val="100000"/>
              </a:lnSpc>
              <a:buFont typeface="Wingdings"/>
              <a:buChar char=""/>
              <a:tabLst>
                <a:tab pos="697865" algn="l"/>
              </a:tabLst>
            </a:pP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Semantic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prompts</a:t>
            </a:r>
            <a:r>
              <a:rPr dirty="0" sz="1200" spc="2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and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no</a:t>
            </a:r>
            <a:r>
              <a:rPr dirty="0" sz="1200" spc="-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Stats</a:t>
            </a:r>
            <a:r>
              <a:rPr dirty="0" sz="12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 spc="-20">
                <a:solidFill>
                  <a:srgbClr val="FFFFFF"/>
                </a:solidFill>
                <a:latin typeface="Segoe UI Semilight"/>
                <a:cs typeface="Segoe UI Semilight"/>
              </a:rPr>
              <a:t>Head:</a:t>
            </a:r>
            <a:endParaRPr sz="1200">
              <a:latin typeface="Segoe UI Semilight"/>
              <a:cs typeface="Segoe UI Semilight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1530" y="3484371"/>
            <a:ext cx="6269482" cy="2612263"/>
          </a:xfrm>
          <a:prstGeom prst="rect">
            <a:avLst/>
          </a:prstGeom>
        </p:spPr>
      </p:pic>
      <p:sp>
        <p:nvSpPr>
          <p:cNvPr id="5" name="object 5" descr=""/>
          <p:cNvSpPr/>
          <p:nvPr/>
        </p:nvSpPr>
        <p:spPr>
          <a:xfrm>
            <a:off x="6828155" y="2055367"/>
            <a:ext cx="0" cy="4250055"/>
          </a:xfrm>
          <a:custGeom>
            <a:avLst/>
            <a:gdLst/>
            <a:ahLst/>
            <a:cxnLst/>
            <a:rect l="l" t="t" r="r" b="b"/>
            <a:pathLst>
              <a:path w="0" h="4250055">
                <a:moveTo>
                  <a:pt x="0" y="0"/>
                </a:moveTo>
                <a:lnTo>
                  <a:pt x="0" y="4249496"/>
                </a:lnTo>
              </a:path>
            </a:pathLst>
          </a:custGeom>
          <a:ln w="6350">
            <a:solidFill>
              <a:srgbClr val="7E7E7E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6" name="object 6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45070" y="2182876"/>
            <a:ext cx="4892167" cy="39137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</a:t>
            </a:r>
            <a:r>
              <a:rPr dirty="0" spc="-630"/>
              <a:t>V</a:t>
            </a:r>
            <a:r>
              <a:rPr dirty="0"/>
              <a:t>.</a:t>
            </a:r>
            <a:r>
              <a:rPr dirty="0" spc="-15"/>
              <a:t> </a:t>
            </a:r>
            <a:r>
              <a:rPr dirty="0"/>
              <a:t>Model</a:t>
            </a:r>
            <a:r>
              <a:rPr dirty="0" spc="-25"/>
              <a:t> </a:t>
            </a:r>
            <a:r>
              <a:rPr dirty="0" spc="-10"/>
              <a:t>Comparison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54455" y="1920620"/>
            <a:ext cx="3956050" cy="78740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89560" indent="-27686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89560" algn="l"/>
              </a:tabLst>
            </a:pPr>
            <a:r>
              <a:rPr dirty="0" sz="1400">
                <a:solidFill>
                  <a:srgbClr val="FFFFFF"/>
                </a:solidFill>
                <a:latin typeface="Segoe UI Semilight"/>
                <a:cs typeface="Segoe UI Semilight"/>
              </a:rPr>
              <a:t>Proposed</a:t>
            </a:r>
            <a:r>
              <a:rPr dirty="0" sz="1400" spc="3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Segoe UI Semilight"/>
                <a:cs typeface="Segoe UI Semilight"/>
              </a:rPr>
              <a:t>Architecture:</a:t>
            </a:r>
            <a:endParaRPr sz="1400">
              <a:latin typeface="Segoe UI Semilight"/>
              <a:cs typeface="Segoe UI Semilight"/>
            </a:endParaRPr>
          </a:p>
          <a:p>
            <a:pPr>
              <a:lnSpc>
                <a:spcPct val="100000"/>
              </a:lnSpc>
              <a:spcBef>
                <a:spcPts val="1010"/>
              </a:spcBef>
              <a:buClr>
                <a:srgbClr val="FFFFFF"/>
              </a:buClr>
              <a:buFont typeface="Wingdings"/>
              <a:buChar char=""/>
            </a:pPr>
            <a:endParaRPr sz="1400">
              <a:latin typeface="Segoe UI Semilight"/>
              <a:cs typeface="Segoe UI Semilight"/>
            </a:endParaRPr>
          </a:p>
          <a:p>
            <a:pPr lvl="1" marL="697865" indent="-227965">
              <a:lnSpc>
                <a:spcPct val="100000"/>
              </a:lnSpc>
              <a:buFont typeface="Wingdings"/>
              <a:buChar char=""/>
              <a:tabLst>
                <a:tab pos="697865" algn="l"/>
              </a:tabLst>
            </a:pP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Original</a:t>
            </a:r>
            <a:r>
              <a:rPr dirty="0" sz="12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prompts</a:t>
            </a:r>
            <a:r>
              <a:rPr dirty="0" sz="1200" spc="254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and</a:t>
            </a:r>
            <a:r>
              <a:rPr dirty="0" sz="12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Stats</a:t>
            </a:r>
            <a:r>
              <a:rPr dirty="0" sz="12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Head(SGD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 spc="-10">
                <a:solidFill>
                  <a:srgbClr val="FFFFFF"/>
                </a:solidFill>
                <a:latin typeface="Segoe UI Semilight"/>
                <a:cs typeface="Segoe UI Semilight"/>
              </a:rPr>
              <a:t>optimizer):</a:t>
            </a:r>
            <a:endParaRPr sz="1200">
              <a:latin typeface="Segoe UI Semilight"/>
              <a:cs typeface="Segoe UI Semilight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0059" y="3318890"/>
            <a:ext cx="6273927" cy="2614168"/>
          </a:xfrm>
          <a:prstGeom prst="rect">
            <a:avLst/>
          </a:prstGeom>
        </p:spPr>
      </p:pic>
      <p:sp>
        <p:nvSpPr>
          <p:cNvPr id="5" name="object 5" descr=""/>
          <p:cNvSpPr/>
          <p:nvPr/>
        </p:nvSpPr>
        <p:spPr>
          <a:xfrm>
            <a:off x="7056755" y="2080767"/>
            <a:ext cx="0" cy="4250055"/>
          </a:xfrm>
          <a:custGeom>
            <a:avLst/>
            <a:gdLst/>
            <a:ahLst/>
            <a:cxnLst/>
            <a:rect l="l" t="t" r="r" b="b"/>
            <a:pathLst>
              <a:path w="0" h="4250055">
                <a:moveTo>
                  <a:pt x="0" y="0"/>
                </a:moveTo>
                <a:lnTo>
                  <a:pt x="0" y="4249496"/>
                </a:lnTo>
              </a:path>
            </a:pathLst>
          </a:custGeom>
          <a:ln w="6350">
            <a:solidFill>
              <a:srgbClr val="7E7E7E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6" name="object 6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72908" y="2446896"/>
            <a:ext cx="4519422" cy="36155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</a:t>
            </a:r>
            <a:r>
              <a:rPr dirty="0" spc="-630"/>
              <a:t>V</a:t>
            </a:r>
            <a:r>
              <a:rPr dirty="0"/>
              <a:t>.</a:t>
            </a:r>
            <a:r>
              <a:rPr dirty="0" spc="-15"/>
              <a:t> </a:t>
            </a:r>
            <a:r>
              <a:rPr dirty="0"/>
              <a:t>Model</a:t>
            </a:r>
            <a:r>
              <a:rPr dirty="0" spc="-25"/>
              <a:t> </a:t>
            </a:r>
            <a:r>
              <a:rPr dirty="0" spc="-10"/>
              <a:t>Comparison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54455" y="1920620"/>
            <a:ext cx="4241800" cy="78740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89560" indent="-27686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89560" algn="l"/>
              </a:tabLst>
            </a:pPr>
            <a:r>
              <a:rPr dirty="0" sz="1400">
                <a:solidFill>
                  <a:srgbClr val="FFFFFF"/>
                </a:solidFill>
                <a:latin typeface="Segoe UI Semilight"/>
                <a:cs typeface="Segoe UI Semilight"/>
              </a:rPr>
              <a:t>Proposed</a:t>
            </a:r>
            <a:r>
              <a:rPr dirty="0" sz="1400" spc="3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Segoe UI Semilight"/>
                <a:cs typeface="Segoe UI Semilight"/>
              </a:rPr>
              <a:t>Architecture:</a:t>
            </a:r>
            <a:endParaRPr sz="1400">
              <a:latin typeface="Segoe UI Semilight"/>
              <a:cs typeface="Segoe UI Semilight"/>
            </a:endParaRPr>
          </a:p>
          <a:p>
            <a:pPr>
              <a:lnSpc>
                <a:spcPct val="100000"/>
              </a:lnSpc>
              <a:spcBef>
                <a:spcPts val="1010"/>
              </a:spcBef>
              <a:buClr>
                <a:srgbClr val="FFFFFF"/>
              </a:buClr>
              <a:buFont typeface="Wingdings"/>
              <a:buChar char=""/>
            </a:pPr>
            <a:endParaRPr sz="1400">
              <a:latin typeface="Segoe UI Semilight"/>
              <a:cs typeface="Segoe UI Semilight"/>
            </a:endParaRPr>
          </a:p>
          <a:p>
            <a:pPr lvl="1" marL="697865" indent="-227965">
              <a:lnSpc>
                <a:spcPct val="100000"/>
              </a:lnSpc>
              <a:buFont typeface="Wingdings"/>
              <a:buChar char=""/>
              <a:tabLst>
                <a:tab pos="697865" algn="l"/>
              </a:tabLst>
            </a:pP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Original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prompts</a:t>
            </a:r>
            <a:r>
              <a:rPr dirty="0" sz="1200" spc="2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and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Stats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Head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>
                <a:solidFill>
                  <a:srgbClr val="FFFFFF"/>
                </a:solidFill>
                <a:latin typeface="Segoe UI Semilight"/>
                <a:cs typeface="Segoe UI Semilight"/>
              </a:rPr>
              <a:t>(AdamW</a:t>
            </a:r>
            <a:r>
              <a:rPr dirty="0" sz="12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200" spc="-10">
                <a:solidFill>
                  <a:srgbClr val="FFFFFF"/>
                </a:solidFill>
                <a:latin typeface="Segoe UI Semilight"/>
                <a:cs typeface="Segoe UI Semilight"/>
              </a:rPr>
              <a:t>optimizer):</a:t>
            </a:r>
            <a:endParaRPr sz="1200">
              <a:latin typeface="Segoe UI Semilight"/>
              <a:cs typeface="Segoe UI Semilight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2558" y="3547465"/>
            <a:ext cx="6073013" cy="2530475"/>
          </a:xfrm>
          <a:prstGeom prst="rect">
            <a:avLst/>
          </a:prstGeom>
        </p:spPr>
      </p:pic>
      <p:sp>
        <p:nvSpPr>
          <p:cNvPr id="5" name="object 5" descr=""/>
          <p:cNvSpPr/>
          <p:nvPr/>
        </p:nvSpPr>
        <p:spPr>
          <a:xfrm>
            <a:off x="6828155" y="2055367"/>
            <a:ext cx="0" cy="4250055"/>
          </a:xfrm>
          <a:custGeom>
            <a:avLst/>
            <a:gdLst/>
            <a:ahLst/>
            <a:cxnLst/>
            <a:rect l="l" t="t" r="r" b="b"/>
            <a:pathLst>
              <a:path w="0" h="4250055">
                <a:moveTo>
                  <a:pt x="0" y="0"/>
                </a:moveTo>
                <a:lnTo>
                  <a:pt x="0" y="4249496"/>
                </a:lnTo>
              </a:path>
            </a:pathLst>
          </a:custGeom>
          <a:ln w="6350">
            <a:solidFill>
              <a:srgbClr val="7E7E7E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6" name="object 6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21576" y="2236609"/>
            <a:ext cx="4858893" cy="388708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</a:t>
            </a:r>
            <a:r>
              <a:rPr dirty="0" spc="-630"/>
              <a:t>V</a:t>
            </a:r>
            <a:r>
              <a:rPr dirty="0"/>
              <a:t>.</a:t>
            </a:r>
            <a:r>
              <a:rPr dirty="0" spc="-15"/>
              <a:t> </a:t>
            </a:r>
            <a:r>
              <a:rPr dirty="0"/>
              <a:t>Model</a:t>
            </a:r>
            <a:r>
              <a:rPr dirty="0" spc="-25"/>
              <a:t> </a:t>
            </a:r>
            <a:r>
              <a:rPr dirty="0" spc="-10"/>
              <a:t>Comparison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54455" y="1920620"/>
            <a:ext cx="1872614" cy="23939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289560" indent="-276860">
              <a:lnSpc>
                <a:spcPct val="100000"/>
              </a:lnSpc>
              <a:spcBef>
                <a:spcPts val="105"/>
              </a:spcBef>
              <a:buFont typeface="Wingdings"/>
              <a:buChar char=""/>
              <a:tabLst>
                <a:tab pos="289560" algn="l"/>
              </a:tabLst>
            </a:pPr>
            <a:r>
              <a:rPr dirty="0" sz="1400">
                <a:solidFill>
                  <a:srgbClr val="FFFFFF"/>
                </a:solidFill>
                <a:latin typeface="Segoe UI Semilight"/>
                <a:cs typeface="Segoe UI Semilight"/>
              </a:rPr>
              <a:t>Metrics</a:t>
            </a:r>
            <a:r>
              <a:rPr dirty="0" sz="1400" spc="-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Segoe UI Semilight"/>
                <a:cs typeface="Segoe UI Semilight"/>
              </a:rPr>
              <a:t>Comparison:</a:t>
            </a:r>
            <a:endParaRPr sz="1400">
              <a:latin typeface="Segoe UI Semilight"/>
              <a:cs typeface="Segoe UI Semilight"/>
            </a:endParaRPr>
          </a:p>
        </p:txBody>
      </p:sp>
      <p:graphicFrame>
        <p:nvGraphicFramePr>
          <p:cNvPr id="4" name="object 4" descr=""/>
          <p:cNvGraphicFramePr>
            <a:graphicFrameLocks noGrp="1"/>
          </p:cNvGraphicFramePr>
          <p:nvPr/>
        </p:nvGraphicFramePr>
        <p:xfrm>
          <a:off x="2817367" y="2389632"/>
          <a:ext cx="7056120" cy="40055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96035"/>
                <a:gridCol w="1490980"/>
                <a:gridCol w="1506219"/>
                <a:gridCol w="1296670"/>
                <a:gridCol w="1377950"/>
              </a:tblGrid>
              <a:tr h="718820">
                <a:tc>
                  <a:txBody>
                    <a:bodyPr/>
                    <a:lstStyle/>
                    <a:p>
                      <a:pPr marL="29083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Experiment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B="0" marT="4381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 marL="6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Accuracy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B="0" marT="4381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Precision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B="0" marT="4381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 marL="127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Recall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B="0" marT="4381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 marL="6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Macro</a:t>
                      </a:r>
                      <a:r>
                        <a:rPr dirty="0" sz="1200" spc="-3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F1</a:t>
                      </a:r>
                      <a:endParaRPr sz="1200">
                        <a:latin typeface="Calibri"/>
                        <a:cs typeface="Calibri"/>
                      </a:endParaRPr>
                    </a:p>
                  </a:txBody>
                  <a:tcPr marL="0" marR="0" marB="0" marT="4381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ctr" marL="77470" marR="70485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Original</a:t>
                      </a:r>
                      <a:r>
                        <a:rPr dirty="0" sz="1200" spc="-6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prompts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dirty="0" sz="1200" spc="-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no</a:t>
                      </a:r>
                      <a:r>
                        <a:rPr dirty="0" sz="1200" spc="-3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Stats 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Head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0.21037</a:t>
                      </a:r>
                      <a:r>
                        <a:rPr dirty="0" sz="1200" spc="-3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3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0.00368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0.21037</a:t>
                      </a:r>
                      <a:r>
                        <a:rPr dirty="0" sz="1200" spc="-3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3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0.00368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11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0.21037</a:t>
                      </a:r>
                      <a:r>
                        <a:rPr dirty="0" sz="1200" spc="-6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5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endParaRPr sz="1200">
                        <a:latin typeface="Segoe UI"/>
                        <a:cs typeface="Segoe UI"/>
                      </a:endParaRPr>
                    </a:p>
                    <a:p>
                      <a:pPr marL="384175">
                        <a:lnSpc>
                          <a:spcPct val="100000"/>
                        </a:lnSpc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0.00368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 marL="127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0.18569</a:t>
                      </a:r>
                      <a:r>
                        <a:rPr dirty="0" sz="1200" spc="-3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3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0.00457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  <a:tr h="718820">
                <a:tc>
                  <a:txBody>
                    <a:bodyPr/>
                    <a:lstStyle/>
                    <a:p>
                      <a:pPr algn="ctr" marL="88265" marR="81280" indent="127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Semantic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prompts</a:t>
                      </a:r>
                      <a:r>
                        <a:rPr dirty="0" sz="1200" spc="26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dirty="0" sz="1200" spc="-4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no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Stats</a:t>
                      </a:r>
                      <a:r>
                        <a:rPr dirty="0" sz="1200" spc="-6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Head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0.24099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0.00333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0.25253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3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0.00199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11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0.24099</a:t>
                      </a:r>
                      <a:r>
                        <a:rPr dirty="0" sz="1200" spc="-5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±</a:t>
                      </a:r>
                      <a:endParaRPr sz="1200">
                        <a:latin typeface="Segoe UI"/>
                        <a:cs typeface="Segoe UI"/>
                      </a:endParaRPr>
                    </a:p>
                    <a:p>
                      <a:pPr marL="384175">
                        <a:lnSpc>
                          <a:spcPct val="100000"/>
                        </a:lnSpc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0.00333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 marL="635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0.12780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3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0.00246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350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  <a:tr h="833119">
                <a:tc>
                  <a:txBody>
                    <a:bodyPr/>
                    <a:lstStyle/>
                    <a:p>
                      <a:pPr algn="ctr" marL="77470" marR="71755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Original</a:t>
                      </a:r>
                      <a:r>
                        <a:rPr dirty="0" sz="1200" spc="-3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prompts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Stats Head(SGD optimizer)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0.21037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0.00368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0.4014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0.0021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0.4069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0.0009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 marL="635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0.4015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0.0011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  <a:tr h="1016000">
                <a:tc>
                  <a:txBody>
                    <a:bodyPr/>
                    <a:lstStyle/>
                    <a:p>
                      <a:pPr algn="ctr" marL="77470" marR="71755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Original</a:t>
                      </a:r>
                      <a:r>
                        <a:rPr dirty="0" sz="1200" spc="-3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prompts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dirty="0" sz="1200" spc="-4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Stats</a:t>
                      </a:r>
                      <a:r>
                        <a:rPr dirty="0" sz="1200" spc="-3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2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Head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(AdamW optimizer)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0.78667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0.00121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0.79936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3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0.00181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115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0.78667</a:t>
                      </a:r>
                      <a:r>
                        <a:rPr dirty="0" sz="1200" spc="-5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±</a:t>
                      </a:r>
                      <a:endParaRPr sz="1200">
                        <a:latin typeface="Segoe UI"/>
                        <a:cs typeface="Segoe UI"/>
                      </a:endParaRPr>
                    </a:p>
                    <a:p>
                      <a:pPr marL="384175">
                        <a:lnSpc>
                          <a:spcPct val="100000"/>
                        </a:lnSpc>
                      </a:pP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0.00121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 marL="635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0.79005</a:t>
                      </a:r>
                      <a:r>
                        <a:rPr dirty="0" sz="1200" spc="-25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±</a:t>
                      </a:r>
                      <a:r>
                        <a:rPr dirty="0" sz="1200" spc="-3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dirty="0" sz="1200" spc="-1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0.00095</a:t>
                      </a:r>
                      <a:endParaRPr sz="1200">
                        <a:latin typeface="Segoe UI"/>
                        <a:cs typeface="Segoe UI"/>
                      </a:endParaRPr>
                    </a:p>
                  </a:txBody>
                  <a:tcPr marL="0" marR="0" marB="0" marT="64135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635"/>
              <a:t>V</a:t>
            </a:r>
            <a:r>
              <a:rPr dirty="0" spc="-10"/>
              <a:t>.</a:t>
            </a:r>
            <a:r>
              <a:rPr dirty="0" spc="40"/>
              <a:t> </a:t>
            </a:r>
            <a:r>
              <a:rPr dirty="0" spc="-595"/>
              <a:t>T</a:t>
            </a:r>
            <a:r>
              <a:rPr dirty="0" spc="-10"/>
              <a:t>ak</a:t>
            </a:r>
            <a:r>
              <a:rPr dirty="0" spc="-25"/>
              <a:t>e</a:t>
            </a:r>
            <a:r>
              <a:rPr dirty="0" spc="-20"/>
              <a:t>-</a:t>
            </a:r>
            <a:r>
              <a:rPr dirty="0" spc="-10"/>
              <a:t>Aways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694131" y="1461897"/>
            <a:ext cx="9942195" cy="2625725"/>
          </a:xfrm>
          <a:prstGeom prst="rect">
            <a:avLst/>
          </a:prstGeom>
        </p:spPr>
        <p:txBody>
          <a:bodyPr wrap="square" lIns="0" tIns="39370" rIns="0" bIns="0" rtlCol="0" vert="horz">
            <a:spAutoFit/>
          </a:bodyPr>
          <a:lstStyle/>
          <a:p>
            <a:pPr algn="just" marL="241300" marR="5080" indent="-228600">
              <a:lnSpc>
                <a:spcPts val="1730"/>
              </a:lnSpc>
              <a:spcBef>
                <a:spcPts val="310"/>
              </a:spcBef>
              <a:buFont typeface="Wingdings"/>
              <a:buChar char=""/>
              <a:tabLst>
                <a:tab pos="241300" algn="l"/>
              </a:tabLst>
            </a:pP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Physics</a:t>
            </a:r>
            <a:r>
              <a:rPr dirty="0" sz="1600" spc="49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as</a:t>
            </a:r>
            <a:r>
              <a:rPr dirty="0" sz="1600" spc="35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600" spc="35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Primary</a:t>
            </a:r>
            <a:r>
              <a:rPr dirty="0" sz="1600" spc="35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Differentiator:</a:t>
            </a:r>
            <a:r>
              <a:rPr dirty="0" sz="1600" spc="35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Session-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level</a:t>
            </a:r>
            <a:r>
              <a:rPr dirty="0" sz="1600" spc="30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statistics</a:t>
            </a:r>
            <a:r>
              <a:rPr dirty="0" sz="1600" spc="30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(IAT,</a:t>
            </a:r>
            <a:r>
              <a:rPr dirty="0" sz="1600" spc="40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Jitter,</a:t>
            </a:r>
            <a:r>
              <a:rPr dirty="0" sz="1600" spc="30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Entropy)</a:t>
            </a:r>
            <a:r>
              <a:rPr dirty="0" sz="1600" spc="35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emerged</a:t>
            </a:r>
            <a:r>
              <a:rPr dirty="0" sz="1600" spc="35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as</a:t>
            </a:r>
            <a:r>
              <a:rPr dirty="0" sz="1600" spc="35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600" spc="30">
                <a:solidFill>
                  <a:srgbClr val="FFFFFF"/>
                </a:solidFill>
                <a:latin typeface="Segoe UI Semilight"/>
                <a:cs typeface="Segoe UI Semilight"/>
              </a:rPr>
              <a:t>  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most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significant</a:t>
            </a:r>
            <a:r>
              <a:rPr dirty="0" sz="1600" spc="4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factor</a:t>
            </a:r>
            <a:r>
              <a:rPr dirty="0" sz="1600" spc="4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in</a:t>
            </a:r>
            <a:r>
              <a:rPr dirty="0" sz="1600" spc="4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resolving</a:t>
            </a:r>
            <a:r>
              <a:rPr dirty="0" sz="1600" spc="4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"visual</a:t>
            </a:r>
            <a:r>
              <a:rPr dirty="0" sz="1600" spc="4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ambiguity,"</a:t>
            </a:r>
            <a:r>
              <a:rPr dirty="0" sz="1600" spc="4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where</a:t>
            </a:r>
            <a:r>
              <a:rPr dirty="0" sz="1600" spc="4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disparate</a:t>
            </a:r>
            <a:r>
              <a:rPr dirty="0" sz="1600" spc="434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encrypted</a:t>
            </a:r>
            <a:r>
              <a:rPr dirty="0" sz="1600" spc="4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applications</a:t>
            </a:r>
            <a:r>
              <a:rPr dirty="0" sz="1600" spc="4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produce</a:t>
            </a:r>
            <a:r>
              <a:rPr dirty="0" sz="1600" spc="4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nearly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identical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 byte-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pattern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images.</a:t>
            </a:r>
            <a:endParaRPr sz="1600">
              <a:latin typeface="Segoe UI Semilight"/>
              <a:cs typeface="Segoe UI Semilight"/>
            </a:endParaRPr>
          </a:p>
          <a:p>
            <a:pPr algn="just" marL="241300" marR="5715" indent="-228600">
              <a:lnSpc>
                <a:spcPct val="90100"/>
              </a:lnSpc>
              <a:spcBef>
                <a:spcPts val="965"/>
              </a:spcBef>
              <a:buFont typeface="Wingdings"/>
              <a:buChar char=""/>
              <a:tabLst>
                <a:tab pos="241300" algn="l"/>
              </a:tabLst>
            </a:pP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Linguistic</a:t>
            </a:r>
            <a:r>
              <a:rPr dirty="0" sz="1600" spc="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Behavioral</a:t>
            </a:r>
            <a:r>
              <a:rPr dirty="0" sz="1600" spc="-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Anchoring:</a:t>
            </a:r>
            <a:r>
              <a:rPr dirty="0" sz="1600" spc="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Replacing</a:t>
            </a:r>
            <a:r>
              <a:rPr dirty="0" sz="1600" spc="-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static</a:t>
            </a:r>
            <a:r>
              <a:rPr dirty="0" sz="1600" spc="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class</a:t>
            </a:r>
            <a:r>
              <a:rPr dirty="0" sz="16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labels</a:t>
            </a:r>
            <a:r>
              <a:rPr dirty="0" sz="1600" spc="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with</a:t>
            </a:r>
            <a:r>
              <a:rPr dirty="0" sz="1600" spc="-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Domain-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Informed</a:t>
            </a:r>
            <a:r>
              <a:rPr dirty="0" sz="1600" spc="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Semantic</a:t>
            </a:r>
            <a:r>
              <a:rPr dirty="0" sz="1600" spc="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Prompts</a:t>
            </a:r>
            <a:r>
              <a:rPr dirty="0" sz="1600" spc="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(e.g.,</a:t>
            </a:r>
            <a:r>
              <a:rPr dirty="0" sz="1600" spc="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25">
                <a:solidFill>
                  <a:srgbClr val="FFFFFF"/>
                </a:solidFill>
                <a:latin typeface="Segoe UI Semilight"/>
                <a:cs typeface="Segoe UI Semilight"/>
              </a:rPr>
              <a:t>"A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photo</a:t>
            </a:r>
            <a:r>
              <a:rPr dirty="0" sz="1600" spc="3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with</a:t>
            </a:r>
            <a:r>
              <a:rPr dirty="0" sz="1600" spc="3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24.50ms</a:t>
            </a:r>
            <a:r>
              <a:rPr dirty="0" sz="1600" spc="3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mean</a:t>
            </a:r>
            <a:r>
              <a:rPr dirty="0" sz="1600" spc="3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IAT...")</a:t>
            </a:r>
            <a:r>
              <a:rPr dirty="0" sz="1600" spc="3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allowed</a:t>
            </a:r>
            <a:r>
              <a:rPr dirty="0" sz="1600" spc="3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600" spc="3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BERT</a:t>
            </a:r>
            <a:r>
              <a:rPr dirty="0" sz="1600" spc="3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encoder</a:t>
            </a:r>
            <a:r>
              <a:rPr dirty="0" sz="1600" spc="3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to</a:t>
            </a:r>
            <a:r>
              <a:rPr dirty="0" sz="1600" spc="3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map</a:t>
            </a:r>
            <a:r>
              <a:rPr dirty="0" sz="1600" spc="3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flow</a:t>
            </a:r>
            <a:r>
              <a:rPr dirty="0" sz="1600" spc="3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physics</a:t>
            </a:r>
            <a:r>
              <a:rPr dirty="0" sz="1600" spc="3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to</a:t>
            </a:r>
            <a:r>
              <a:rPr dirty="0" sz="1600" spc="3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application</a:t>
            </a:r>
            <a:r>
              <a:rPr dirty="0" sz="1600" spc="3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identity,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enabling</a:t>
            </a:r>
            <a:r>
              <a:rPr dirty="0" sz="1600" spc="-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1%</a:t>
            </a:r>
            <a:r>
              <a:rPr dirty="0" sz="16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loss</a:t>
            </a:r>
            <a:r>
              <a:rPr dirty="0" sz="1600" spc="-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reduction</a:t>
            </a:r>
            <a:r>
              <a:rPr dirty="0" sz="16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per</a:t>
            </a:r>
            <a:r>
              <a:rPr dirty="0" sz="1600" spc="-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10</a:t>
            </a:r>
            <a:r>
              <a:rPr dirty="0" sz="1600" spc="-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epochs</a:t>
            </a:r>
            <a:r>
              <a:rPr dirty="0" sz="16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convergence</a:t>
            </a:r>
            <a:r>
              <a:rPr dirty="0" sz="16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speedup.</a:t>
            </a:r>
            <a:endParaRPr sz="1600">
              <a:latin typeface="Segoe UI Semilight"/>
              <a:cs typeface="Segoe UI Semilight"/>
            </a:endParaRPr>
          </a:p>
          <a:p>
            <a:pPr marL="241300" marR="6350" indent="-228600">
              <a:lnSpc>
                <a:spcPts val="1730"/>
              </a:lnSpc>
              <a:spcBef>
                <a:spcPts val="1019"/>
              </a:spcBef>
              <a:buFont typeface="Wingdings"/>
              <a:buChar char=""/>
              <a:tabLst>
                <a:tab pos="241300" algn="l"/>
              </a:tabLst>
            </a:pP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Non-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Linear</a:t>
            </a:r>
            <a:r>
              <a:rPr dirty="0" sz="1600" spc="18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Fusion</a:t>
            </a:r>
            <a:r>
              <a:rPr dirty="0" sz="1600" spc="19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Superiority:</a:t>
            </a:r>
            <a:r>
              <a:rPr dirty="0" sz="1600" spc="19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Implementing</a:t>
            </a:r>
            <a:r>
              <a:rPr dirty="0" sz="1600" spc="19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</a:t>
            </a:r>
            <a:r>
              <a:rPr dirty="0" sz="1600" spc="20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learnable</a:t>
            </a:r>
            <a:r>
              <a:rPr dirty="0" sz="1600" spc="18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MLP</a:t>
            </a:r>
            <a:r>
              <a:rPr dirty="0" sz="1600" spc="18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fusion</a:t>
            </a:r>
            <a:r>
              <a:rPr dirty="0" sz="1600" spc="19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head</a:t>
            </a:r>
            <a:r>
              <a:rPr dirty="0" sz="1600" spc="18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instead</a:t>
            </a:r>
            <a:r>
              <a:rPr dirty="0" sz="1600" spc="19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of</a:t>
            </a:r>
            <a:r>
              <a:rPr dirty="0" sz="1600" spc="18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static</a:t>
            </a:r>
            <a:r>
              <a:rPr dirty="0" sz="1600" spc="19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cosine</a:t>
            </a:r>
            <a:r>
              <a:rPr dirty="0" sz="1600" spc="19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similarity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captured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complex</a:t>
            </a:r>
            <a:r>
              <a:rPr dirty="0" sz="1600" spc="-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cross-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modal</a:t>
            </a:r>
            <a:r>
              <a:rPr dirty="0" sz="16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correlations,</a:t>
            </a:r>
            <a:r>
              <a:rPr dirty="0" sz="1600" spc="-3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driving</a:t>
            </a:r>
            <a:r>
              <a:rPr dirty="0" sz="1600" spc="-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</a:t>
            </a:r>
            <a:r>
              <a:rPr dirty="0" sz="16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558%</a:t>
            </a:r>
            <a:r>
              <a:rPr dirty="0" sz="1600" spc="-5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Macro</a:t>
            </a:r>
            <a:r>
              <a:rPr dirty="0" sz="1600" spc="-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F1</a:t>
            </a:r>
            <a:r>
              <a:rPr dirty="0" sz="1600" spc="-4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improvement</a:t>
            </a:r>
            <a:r>
              <a:rPr dirty="0" sz="1600" spc="-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(0.12</a:t>
            </a:r>
            <a:r>
              <a:rPr dirty="0" sz="1600" spc="-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-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&gt;</a:t>
            </a:r>
            <a:r>
              <a:rPr dirty="0" sz="1600" spc="-5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0.79).</a:t>
            </a:r>
            <a:endParaRPr sz="1600">
              <a:latin typeface="Segoe UI Semilight"/>
              <a:cs typeface="Segoe UI Semilight"/>
            </a:endParaRPr>
          </a:p>
          <a:p>
            <a:pPr marL="240665" indent="-227965">
              <a:lnSpc>
                <a:spcPts val="1825"/>
              </a:lnSpc>
              <a:spcBef>
                <a:spcPts val="790"/>
              </a:spcBef>
              <a:buFont typeface="Wingdings"/>
              <a:buChar char=""/>
              <a:tabLst>
                <a:tab pos="240665" algn="l"/>
              </a:tabLst>
            </a:pP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High-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Efficiency</a:t>
            </a:r>
            <a:r>
              <a:rPr dirty="0" sz="1600" spc="7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Accuracy:</a:t>
            </a:r>
            <a:r>
              <a:rPr dirty="0" sz="1600" spc="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The</a:t>
            </a:r>
            <a:r>
              <a:rPr dirty="0" sz="1600" spc="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model</a:t>
            </a:r>
            <a:r>
              <a:rPr dirty="0" sz="1600" spc="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achieved</a:t>
            </a:r>
            <a:r>
              <a:rPr dirty="0" sz="1600" spc="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</a:t>
            </a:r>
            <a:r>
              <a:rPr dirty="0" sz="1600" spc="7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79%</a:t>
            </a:r>
            <a:r>
              <a:rPr dirty="0" sz="1600" spc="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Macro</a:t>
            </a:r>
            <a:r>
              <a:rPr dirty="0" sz="1600" spc="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F1</a:t>
            </a:r>
            <a:r>
              <a:rPr dirty="0" sz="1600" spc="7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while</a:t>
            </a:r>
            <a:r>
              <a:rPr dirty="0" sz="1600" spc="7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maintaining</a:t>
            </a:r>
            <a:r>
              <a:rPr dirty="0" sz="1600" spc="7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</a:t>
            </a:r>
            <a:r>
              <a:rPr dirty="0" sz="1600" spc="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compact</a:t>
            </a:r>
            <a:r>
              <a:rPr dirty="0" sz="1600" spc="6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1.35M</a:t>
            </a:r>
            <a:r>
              <a:rPr dirty="0" sz="1600" spc="6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parameter</a:t>
            </a:r>
            <a:endParaRPr sz="1600">
              <a:latin typeface="Segoe UI Semilight"/>
              <a:cs typeface="Segoe UI Semilight"/>
            </a:endParaRPr>
          </a:p>
          <a:p>
            <a:pPr marL="241300">
              <a:lnSpc>
                <a:spcPts val="1825"/>
              </a:lnSpc>
            </a:pP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footprint,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proving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that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 state-</a:t>
            </a:r>
            <a:r>
              <a:rPr dirty="0" sz="1600" spc="-25">
                <a:solidFill>
                  <a:srgbClr val="FFFFFF"/>
                </a:solidFill>
                <a:latin typeface="Segoe UI Semilight"/>
                <a:cs typeface="Segoe UI Semilight"/>
              </a:rPr>
              <a:t>of-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the-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art</a:t>
            </a:r>
            <a:r>
              <a:rPr dirty="0" sz="1600" spc="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encrypted</a:t>
            </a:r>
            <a:r>
              <a:rPr dirty="0" sz="1600" spc="1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classification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 is</a:t>
            </a:r>
            <a:r>
              <a:rPr dirty="0" sz="1600" spc="-4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viable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for</a:t>
            </a:r>
            <a:r>
              <a:rPr dirty="0" sz="1600" spc="-25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lightweight,</a:t>
            </a:r>
            <a:r>
              <a:rPr dirty="0" sz="1600" spc="30">
                <a:solidFill>
                  <a:srgbClr val="FFFFFF"/>
                </a:solidFill>
                <a:latin typeface="Segoe UI Semilight"/>
                <a:cs typeface="Segoe UI Semilight"/>
              </a:rPr>
              <a:t> </a:t>
            </a:r>
            <a:r>
              <a:rPr dirty="0" sz="1600" spc="-20">
                <a:solidFill>
                  <a:srgbClr val="FFFFFF"/>
                </a:solidFill>
                <a:latin typeface="Segoe UI Semilight"/>
                <a:cs typeface="Segoe UI Semilight"/>
              </a:rPr>
              <a:t>ISP-</a:t>
            </a:r>
            <a:r>
              <a:rPr dirty="0" sz="1600">
                <a:solidFill>
                  <a:srgbClr val="FFFFFF"/>
                </a:solidFill>
                <a:latin typeface="Segoe UI Semilight"/>
                <a:cs typeface="Segoe UI Semilight"/>
              </a:rPr>
              <a:t>scale</a:t>
            </a:r>
            <a:r>
              <a:rPr dirty="0" sz="1600" spc="-10">
                <a:solidFill>
                  <a:srgbClr val="FFFFFF"/>
                </a:solidFill>
                <a:latin typeface="Segoe UI Semilight"/>
                <a:cs typeface="Segoe UI Semilight"/>
              </a:rPr>
              <a:t> deployment.</a:t>
            </a:r>
            <a:endParaRPr sz="1600">
              <a:latin typeface="Segoe UI Semilight"/>
              <a:cs typeface="Segoe UI Semi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621529" y="2973070"/>
            <a:ext cx="1685925" cy="788035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5000" spc="55">
                <a:solidFill>
                  <a:srgbClr val="FFFFFF"/>
                </a:solidFill>
                <a:latin typeface="Tw Cen MT Condensed"/>
                <a:cs typeface="Tw Cen MT Condensed"/>
              </a:rPr>
              <a:t>THANKS!</a:t>
            </a:r>
            <a:endParaRPr sz="5000">
              <a:latin typeface="Tw Cen MT Condensed"/>
              <a:cs typeface="Tw Cen MT Condensed"/>
            </a:endParaRPr>
          </a:p>
        </p:txBody>
      </p:sp>
      <p:sp>
        <p:nvSpPr>
          <p:cNvPr id="3" name="object 3" descr=""/>
          <p:cNvSpPr/>
          <p:nvPr/>
        </p:nvSpPr>
        <p:spPr>
          <a:xfrm>
            <a:off x="4598415" y="2573527"/>
            <a:ext cx="6583680" cy="0"/>
          </a:xfrm>
          <a:custGeom>
            <a:avLst/>
            <a:gdLst/>
            <a:ahLst/>
            <a:cxnLst/>
            <a:rect l="l" t="t" r="r" b="b"/>
            <a:pathLst>
              <a:path w="6583680" h="0">
                <a:moveTo>
                  <a:pt x="0" y="0"/>
                </a:moveTo>
                <a:lnTo>
                  <a:pt x="6583680" y="0"/>
                </a:lnTo>
              </a:path>
            </a:pathLst>
          </a:custGeom>
          <a:ln w="19050">
            <a:solidFill>
              <a:srgbClr val="FFFFFF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Mikiko Bazeley</dc:creator>
  <dc:title>Predicting sales success from INTRO callS</dc:title>
  <dcterms:created xsi:type="dcterms:W3CDTF">2026-03-07T04:38:09Z</dcterms:created>
  <dcterms:modified xsi:type="dcterms:W3CDTF">2026-03-07T04:38:09Z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2026-02-12T00:00:00Z</vt:filetime>
  </property>
  <property fmtid="{D5CDD505-2E9C-101B-9397-08002B2CF9AE}" pid="3" name="Creator">
    <vt:lpwstr>Microsoft® PowerPoint® 2021</vt:lpwstr>
  </property>
  <property fmtid="{D5CDD505-2E9C-101B-9397-08002B2CF9AE}" pid="4" name="LastSaved">
    <vt:filetime>2026-03-07T00:00:00Z</vt:filetime>
  </property>
  <property fmtid="{D5CDD505-2E9C-101B-9397-08002B2CF9AE}" pid="5" name="Producer">
    <vt:lpwstr>3-Heights(TM) PDF Security Shell 4.8.25.2 (http://www.pdf-tools.com)</vt:lpwstr>
  </property>
</Properties>
</file>