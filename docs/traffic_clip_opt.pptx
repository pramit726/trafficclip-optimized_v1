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3"/>
  </p:notesMasterIdLst>
  <p:sldIdLst>
    <p:sldId id="272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9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>
      <p:cViewPr>
        <p:scale>
          <a:sx n="75" d="100"/>
          <a:sy n="75" d="100"/>
        </p:scale>
        <p:origin x="36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771A6-62EB-40DE-96A6-D3F6893D5DF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6100CD-22DF-40D1-B563-0D532B7220B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Project Overview</a:t>
          </a:r>
        </a:p>
      </dgm:t>
    </dgm:pt>
    <dgm:pt modelId="{215705B0-C3F6-4790-AEDD-0C0A035CF64E}" type="parTrans" cxnId="{8A97008E-8379-49C0-B2E2-3DE8C94F4A0C}">
      <dgm:prSet/>
      <dgm:spPr/>
      <dgm:t>
        <a:bodyPr/>
        <a:lstStyle/>
        <a:p>
          <a:endParaRPr lang="en-US"/>
        </a:p>
      </dgm:t>
    </dgm:pt>
    <dgm:pt modelId="{FD476A68-5B30-40E9-AA42-A7CEFE847112}" type="sibTrans" cxnId="{8A97008E-8379-49C0-B2E2-3DE8C94F4A0C}">
      <dgm:prSet/>
      <dgm:spPr/>
      <dgm:t>
        <a:bodyPr/>
        <a:lstStyle/>
        <a:p>
          <a:endParaRPr lang="en-US"/>
        </a:p>
      </dgm:t>
    </dgm:pt>
    <dgm:pt modelId="{23D86401-C82D-4622-96BC-BFBFA05694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Data Acquisition &amp; Processing</a:t>
          </a:r>
        </a:p>
      </dgm:t>
    </dgm:pt>
    <dgm:pt modelId="{C24F9AC5-1539-4CDA-9D30-C19CC1B7B4E2}" type="parTrans" cxnId="{47626BAF-679A-471D-B98C-E8931899742A}">
      <dgm:prSet/>
      <dgm:spPr/>
      <dgm:t>
        <a:bodyPr/>
        <a:lstStyle/>
        <a:p>
          <a:endParaRPr lang="en-US"/>
        </a:p>
      </dgm:t>
    </dgm:pt>
    <dgm:pt modelId="{80AC0116-E724-4CB7-8041-BC308487DBE9}" type="sibTrans" cxnId="{47626BAF-679A-471D-B98C-E8931899742A}">
      <dgm:prSet/>
      <dgm:spPr/>
      <dgm:t>
        <a:bodyPr/>
        <a:lstStyle/>
        <a:p>
          <a:endParaRPr lang="en-US"/>
        </a:p>
      </dgm:t>
    </dgm:pt>
    <dgm:pt modelId="{4F45ACEA-BE95-4BD4-817D-802599F875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solidFill>
                <a:schemeClr val="bg1"/>
              </a:solidFill>
            </a:rPr>
            <a:t>Experimental Roadmap</a:t>
          </a:r>
          <a:endParaRPr lang="en-US" dirty="0">
            <a:solidFill>
              <a:schemeClr val="bg1"/>
            </a:solidFill>
          </a:endParaRPr>
        </a:p>
      </dgm:t>
    </dgm:pt>
    <dgm:pt modelId="{A027D3BD-FFC0-4D8B-9611-0E96D38F0081}" type="parTrans" cxnId="{B819606A-7D2D-4E1D-965B-66C51CC44872}">
      <dgm:prSet/>
      <dgm:spPr/>
      <dgm:t>
        <a:bodyPr/>
        <a:lstStyle/>
        <a:p>
          <a:endParaRPr lang="en-US"/>
        </a:p>
      </dgm:t>
    </dgm:pt>
    <dgm:pt modelId="{E42AA14D-0018-4099-BBE7-61072984B59C}" type="sibTrans" cxnId="{B819606A-7D2D-4E1D-965B-66C51CC44872}">
      <dgm:prSet/>
      <dgm:spPr/>
      <dgm:t>
        <a:bodyPr/>
        <a:lstStyle/>
        <a:p>
          <a:endParaRPr lang="en-US"/>
        </a:p>
      </dgm:t>
    </dgm:pt>
    <dgm:pt modelId="{866E9CF6-CE2D-4CDB-A323-2744B64D1B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Take-Aways</a:t>
          </a:r>
        </a:p>
      </dgm:t>
    </dgm:pt>
    <dgm:pt modelId="{675F1C4B-2AD7-459C-8733-4FF2A958F65F}" type="parTrans" cxnId="{9B7B10C5-9A89-4435-AEF4-6C18177A7B19}">
      <dgm:prSet/>
      <dgm:spPr/>
      <dgm:t>
        <a:bodyPr/>
        <a:lstStyle/>
        <a:p>
          <a:endParaRPr lang="en-US"/>
        </a:p>
      </dgm:t>
    </dgm:pt>
    <dgm:pt modelId="{0FCFCCAE-7927-4EC7-9095-5F479164D59A}" type="sibTrans" cxnId="{9B7B10C5-9A89-4435-AEF4-6C18177A7B19}">
      <dgm:prSet/>
      <dgm:spPr/>
      <dgm:t>
        <a:bodyPr/>
        <a:lstStyle/>
        <a:p>
          <a:endParaRPr lang="en-US"/>
        </a:p>
      </dgm:t>
    </dgm:pt>
    <dgm:pt modelId="{07CAF645-3D30-43F0-829C-3C61B39023A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</a:rPr>
            <a:t>Data Overview</a:t>
          </a:r>
        </a:p>
      </dgm:t>
    </dgm:pt>
    <dgm:pt modelId="{22DB9EA1-D4BC-44B6-BA3C-97890643104D}" type="sibTrans" cxnId="{C3875E98-6E9C-4963-81B1-11323B7A310B}">
      <dgm:prSet/>
      <dgm:spPr/>
      <dgm:t>
        <a:bodyPr/>
        <a:lstStyle/>
        <a:p>
          <a:endParaRPr lang="en-US"/>
        </a:p>
      </dgm:t>
    </dgm:pt>
    <dgm:pt modelId="{DEB96E58-D806-4305-9C29-C26A8F6B10C2}" type="parTrans" cxnId="{C3875E98-6E9C-4963-81B1-11323B7A310B}">
      <dgm:prSet/>
      <dgm:spPr/>
      <dgm:t>
        <a:bodyPr/>
        <a:lstStyle/>
        <a:p>
          <a:endParaRPr lang="en-US"/>
        </a:p>
      </dgm:t>
    </dgm:pt>
    <dgm:pt modelId="{F79C7552-489E-4645-83C9-044498A09074}" type="pres">
      <dgm:prSet presAssocID="{58C771A6-62EB-40DE-96A6-D3F6893D5DF1}" presName="root" presStyleCnt="0">
        <dgm:presLayoutVars>
          <dgm:dir/>
          <dgm:resizeHandles val="exact"/>
        </dgm:presLayoutVars>
      </dgm:prSet>
      <dgm:spPr/>
    </dgm:pt>
    <dgm:pt modelId="{91186C63-F21B-4A7E-9163-6314C782E221}" type="pres">
      <dgm:prSet presAssocID="{126100CD-22DF-40D1-B563-0D532B7220BD}" presName="compNode" presStyleCnt="0"/>
      <dgm:spPr/>
    </dgm:pt>
    <dgm:pt modelId="{EEEAD4E0-2CA2-4BBB-B5E3-9E66749F8088}" type="pres">
      <dgm:prSet presAssocID="{126100CD-22DF-40D1-B563-0D532B7220BD}" presName="iconBgRect" presStyleLbl="bgShp" presStyleIdx="0" presStyleCnt="5"/>
      <dgm:spPr/>
    </dgm:pt>
    <dgm:pt modelId="{FBDCEEAC-A7A5-4B88-8A27-EAAC80A870EB}" type="pres">
      <dgm:prSet presAssocID="{126100CD-22DF-40D1-B563-0D532B7220B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7597CAB5-23EA-4BE1-B1FD-B9D70D373A7C}" type="pres">
      <dgm:prSet presAssocID="{126100CD-22DF-40D1-B563-0D532B7220BD}" presName="spaceRect" presStyleCnt="0"/>
      <dgm:spPr/>
    </dgm:pt>
    <dgm:pt modelId="{72DA4E73-5ACE-4711-8010-2DAAFAD93692}" type="pres">
      <dgm:prSet presAssocID="{126100CD-22DF-40D1-B563-0D532B7220BD}" presName="textRect" presStyleLbl="revTx" presStyleIdx="0" presStyleCnt="5">
        <dgm:presLayoutVars>
          <dgm:chMax val="1"/>
          <dgm:chPref val="1"/>
        </dgm:presLayoutVars>
      </dgm:prSet>
      <dgm:spPr/>
    </dgm:pt>
    <dgm:pt modelId="{3C09D2AB-E222-4DC3-ADBA-D5EA179D876D}" type="pres">
      <dgm:prSet presAssocID="{FD476A68-5B30-40E9-AA42-A7CEFE847112}" presName="sibTrans" presStyleCnt="0"/>
      <dgm:spPr/>
    </dgm:pt>
    <dgm:pt modelId="{75778E99-4A9D-491A-873F-128FDEB58B66}" type="pres">
      <dgm:prSet presAssocID="{07CAF645-3D30-43F0-829C-3C61B39023A1}" presName="compNode" presStyleCnt="0"/>
      <dgm:spPr/>
    </dgm:pt>
    <dgm:pt modelId="{2C9CDD20-51F8-4B63-A1E3-943F88694D9E}" type="pres">
      <dgm:prSet presAssocID="{07CAF645-3D30-43F0-829C-3C61B39023A1}" presName="iconBgRect" presStyleLbl="bgShp" presStyleIdx="1" presStyleCnt="5"/>
      <dgm:spPr/>
    </dgm:pt>
    <dgm:pt modelId="{0C3877D6-5C83-4358-9079-EB4601ADC4BE}" type="pres">
      <dgm:prSet presAssocID="{07CAF645-3D30-43F0-829C-3C61B39023A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C47C9A-9B89-4115-9793-49178926FA85}" type="pres">
      <dgm:prSet presAssocID="{07CAF645-3D30-43F0-829C-3C61B39023A1}" presName="spaceRect" presStyleCnt="0"/>
      <dgm:spPr/>
    </dgm:pt>
    <dgm:pt modelId="{6815F9F8-E15E-42B6-8F32-FCEA03F5A3CA}" type="pres">
      <dgm:prSet presAssocID="{07CAF645-3D30-43F0-829C-3C61B39023A1}" presName="textRect" presStyleLbl="revTx" presStyleIdx="1" presStyleCnt="5">
        <dgm:presLayoutVars>
          <dgm:chMax val="1"/>
          <dgm:chPref val="1"/>
        </dgm:presLayoutVars>
      </dgm:prSet>
      <dgm:spPr/>
    </dgm:pt>
    <dgm:pt modelId="{2FA074FF-2E68-4875-8153-523F68E7A6A1}" type="pres">
      <dgm:prSet presAssocID="{22DB9EA1-D4BC-44B6-BA3C-97890643104D}" presName="sibTrans" presStyleCnt="0"/>
      <dgm:spPr/>
    </dgm:pt>
    <dgm:pt modelId="{0B60941C-B5B1-4C92-A528-D548738C5271}" type="pres">
      <dgm:prSet presAssocID="{23D86401-C82D-4622-96BC-BFBFA056946F}" presName="compNode" presStyleCnt="0"/>
      <dgm:spPr/>
    </dgm:pt>
    <dgm:pt modelId="{72D7CC0E-0D42-4CDF-A3FC-CB6D2B9AA0C4}" type="pres">
      <dgm:prSet presAssocID="{23D86401-C82D-4622-96BC-BFBFA056946F}" presName="iconBgRect" presStyleLbl="bgShp" presStyleIdx="2" presStyleCnt="5"/>
      <dgm:spPr/>
    </dgm:pt>
    <dgm:pt modelId="{A1ECA9B3-0ABE-4505-824C-4E932B778CE7}" type="pres">
      <dgm:prSet presAssocID="{23D86401-C82D-4622-96BC-BFBFA056946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C8652C5-E125-44A5-82DA-5387F22122AA}" type="pres">
      <dgm:prSet presAssocID="{23D86401-C82D-4622-96BC-BFBFA056946F}" presName="spaceRect" presStyleCnt="0"/>
      <dgm:spPr/>
    </dgm:pt>
    <dgm:pt modelId="{086E6C96-744B-48A5-8D15-B1114BD609A9}" type="pres">
      <dgm:prSet presAssocID="{23D86401-C82D-4622-96BC-BFBFA056946F}" presName="textRect" presStyleLbl="revTx" presStyleIdx="2" presStyleCnt="5">
        <dgm:presLayoutVars>
          <dgm:chMax val="1"/>
          <dgm:chPref val="1"/>
        </dgm:presLayoutVars>
      </dgm:prSet>
      <dgm:spPr/>
    </dgm:pt>
    <dgm:pt modelId="{E2510F85-5299-4041-AE91-5087EED0BEC2}" type="pres">
      <dgm:prSet presAssocID="{80AC0116-E724-4CB7-8041-BC308487DBE9}" presName="sibTrans" presStyleCnt="0"/>
      <dgm:spPr/>
    </dgm:pt>
    <dgm:pt modelId="{5D5E76FC-3676-4A3C-B665-ED651792B779}" type="pres">
      <dgm:prSet presAssocID="{4F45ACEA-BE95-4BD4-817D-802599F87524}" presName="compNode" presStyleCnt="0"/>
      <dgm:spPr/>
    </dgm:pt>
    <dgm:pt modelId="{453A5838-7624-4EE9-B08F-92137982D8E5}" type="pres">
      <dgm:prSet presAssocID="{4F45ACEA-BE95-4BD4-817D-802599F87524}" presName="iconBgRect" presStyleLbl="bgShp" presStyleIdx="3" presStyleCnt="5"/>
      <dgm:spPr/>
    </dgm:pt>
    <dgm:pt modelId="{C6940ECA-3BB1-48C9-B5C9-9F9EC58EB248}" type="pres">
      <dgm:prSet presAssocID="{4F45ACEA-BE95-4BD4-817D-802599F8752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BF94CB9-8917-4716-A074-AE5D73EB00F6}" type="pres">
      <dgm:prSet presAssocID="{4F45ACEA-BE95-4BD4-817D-802599F87524}" presName="spaceRect" presStyleCnt="0"/>
      <dgm:spPr/>
    </dgm:pt>
    <dgm:pt modelId="{D18F5A64-DA14-4A2F-9289-86CAE232D8F8}" type="pres">
      <dgm:prSet presAssocID="{4F45ACEA-BE95-4BD4-817D-802599F87524}" presName="textRect" presStyleLbl="revTx" presStyleIdx="3" presStyleCnt="5">
        <dgm:presLayoutVars>
          <dgm:chMax val="1"/>
          <dgm:chPref val="1"/>
        </dgm:presLayoutVars>
      </dgm:prSet>
      <dgm:spPr/>
    </dgm:pt>
    <dgm:pt modelId="{811B8404-86F9-4267-A9D5-D9605D349CED}" type="pres">
      <dgm:prSet presAssocID="{E42AA14D-0018-4099-BBE7-61072984B59C}" presName="sibTrans" presStyleCnt="0"/>
      <dgm:spPr/>
    </dgm:pt>
    <dgm:pt modelId="{C657D1FF-7FCA-4815-9309-E53F13A3EE4E}" type="pres">
      <dgm:prSet presAssocID="{866E9CF6-CE2D-4CDB-A323-2744B64D1B6A}" presName="compNode" presStyleCnt="0"/>
      <dgm:spPr/>
    </dgm:pt>
    <dgm:pt modelId="{C76F5558-649D-43BC-BC12-FA26AAC1CD1E}" type="pres">
      <dgm:prSet presAssocID="{866E9CF6-CE2D-4CDB-A323-2744B64D1B6A}" presName="iconBgRect" presStyleLbl="bgShp" presStyleIdx="4" presStyleCnt="5"/>
      <dgm:spPr/>
    </dgm:pt>
    <dgm:pt modelId="{E2695678-A341-4250-AF2D-26DAA3687B59}" type="pres">
      <dgm:prSet presAssocID="{866E9CF6-CE2D-4CDB-A323-2744B64D1B6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922AFBD-730C-4BC0-9B0F-A445F34DE900}" type="pres">
      <dgm:prSet presAssocID="{866E9CF6-CE2D-4CDB-A323-2744B64D1B6A}" presName="spaceRect" presStyleCnt="0"/>
      <dgm:spPr/>
    </dgm:pt>
    <dgm:pt modelId="{9B6FF9BF-DFD4-4CCD-8B4D-62F680A4FDFC}" type="pres">
      <dgm:prSet presAssocID="{866E9CF6-CE2D-4CDB-A323-2744B64D1B6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FAA691B-7EE6-46AB-AA46-BC4DB90FAF47}" type="presOf" srcId="{07CAF645-3D30-43F0-829C-3C61B39023A1}" destId="{6815F9F8-E15E-42B6-8F32-FCEA03F5A3CA}" srcOrd="0" destOrd="0" presId="urn:microsoft.com/office/officeart/2018/5/layout/IconCircleLabelList"/>
    <dgm:cxn modelId="{B819606A-7D2D-4E1D-965B-66C51CC44872}" srcId="{58C771A6-62EB-40DE-96A6-D3F6893D5DF1}" destId="{4F45ACEA-BE95-4BD4-817D-802599F87524}" srcOrd="3" destOrd="0" parTransId="{A027D3BD-FFC0-4D8B-9611-0E96D38F0081}" sibTransId="{E42AA14D-0018-4099-BBE7-61072984B59C}"/>
    <dgm:cxn modelId="{C651124B-D7FE-488C-86E0-9D841A3E5C90}" type="presOf" srcId="{126100CD-22DF-40D1-B563-0D532B7220BD}" destId="{72DA4E73-5ACE-4711-8010-2DAAFAD93692}" srcOrd="0" destOrd="0" presId="urn:microsoft.com/office/officeart/2018/5/layout/IconCircleLabelList"/>
    <dgm:cxn modelId="{E5909275-7EE6-4A3F-B0FE-28AE9C8F1640}" type="presOf" srcId="{4F45ACEA-BE95-4BD4-817D-802599F87524}" destId="{D18F5A64-DA14-4A2F-9289-86CAE232D8F8}" srcOrd="0" destOrd="0" presId="urn:microsoft.com/office/officeart/2018/5/layout/IconCircleLabelList"/>
    <dgm:cxn modelId="{8A97008E-8379-49C0-B2E2-3DE8C94F4A0C}" srcId="{58C771A6-62EB-40DE-96A6-D3F6893D5DF1}" destId="{126100CD-22DF-40D1-B563-0D532B7220BD}" srcOrd="0" destOrd="0" parTransId="{215705B0-C3F6-4790-AEDD-0C0A035CF64E}" sibTransId="{FD476A68-5B30-40E9-AA42-A7CEFE847112}"/>
    <dgm:cxn modelId="{C3875E98-6E9C-4963-81B1-11323B7A310B}" srcId="{58C771A6-62EB-40DE-96A6-D3F6893D5DF1}" destId="{07CAF645-3D30-43F0-829C-3C61B39023A1}" srcOrd="1" destOrd="0" parTransId="{DEB96E58-D806-4305-9C29-C26A8F6B10C2}" sibTransId="{22DB9EA1-D4BC-44B6-BA3C-97890643104D}"/>
    <dgm:cxn modelId="{9D47ACA0-5610-4B65-BF6F-0059421567A3}" type="presOf" srcId="{58C771A6-62EB-40DE-96A6-D3F6893D5DF1}" destId="{F79C7552-489E-4645-83C9-044498A09074}" srcOrd="0" destOrd="0" presId="urn:microsoft.com/office/officeart/2018/5/layout/IconCircleLabelList"/>
    <dgm:cxn modelId="{47626BAF-679A-471D-B98C-E8931899742A}" srcId="{58C771A6-62EB-40DE-96A6-D3F6893D5DF1}" destId="{23D86401-C82D-4622-96BC-BFBFA056946F}" srcOrd="2" destOrd="0" parTransId="{C24F9AC5-1539-4CDA-9D30-C19CC1B7B4E2}" sibTransId="{80AC0116-E724-4CB7-8041-BC308487DBE9}"/>
    <dgm:cxn modelId="{9B7B10C5-9A89-4435-AEF4-6C18177A7B19}" srcId="{58C771A6-62EB-40DE-96A6-D3F6893D5DF1}" destId="{866E9CF6-CE2D-4CDB-A323-2744B64D1B6A}" srcOrd="4" destOrd="0" parTransId="{675F1C4B-2AD7-459C-8733-4FF2A958F65F}" sibTransId="{0FCFCCAE-7927-4EC7-9095-5F479164D59A}"/>
    <dgm:cxn modelId="{BFF179CA-D9DD-45CF-85DE-40155ACF95BC}" type="presOf" srcId="{866E9CF6-CE2D-4CDB-A323-2744B64D1B6A}" destId="{9B6FF9BF-DFD4-4CCD-8B4D-62F680A4FDFC}" srcOrd="0" destOrd="0" presId="urn:microsoft.com/office/officeart/2018/5/layout/IconCircleLabelList"/>
    <dgm:cxn modelId="{9F2048DB-FB34-47F8-9554-3A3A21B12FB8}" type="presOf" srcId="{23D86401-C82D-4622-96BC-BFBFA056946F}" destId="{086E6C96-744B-48A5-8D15-B1114BD609A9}" srcOrd="0" destOrd="0" presId="urn:microsoft.com/office/officeart/2018/5/layout/IconCircleLabelList"/>
    <dgm:cxn modelId="{1B74750F-C07F-44A8-9E93-EFE24364A478}" type="presParOf" srcId="{F79C7552-489E-4645-83C9-044498A09074}" destId="{91186C63-F21B-4A7E-9163-6314C782E221}" srcOrd="0" destOrd="0" presId="urn:microsoft.com/office/officeart/2018/5/layout/IconCircleLabelList"/>
    <dgm:cxn modelId="{5FB844FF-F12C-4092-A753-1BD6A2E650B3}" type="presParOf" srcId="{91186C63-F21B-4A7E-9163-6314C782E221}" destId="{EEEAD4E0-2CA2-4BBB-B5E3-9E66749F8088}" srcOrd="0" destOrd="0" presId="urn:microsoft.com/office/officeart/2018/5/layout/IconCircleLabelList"/>
    <dgm:cxn modelId="{67E2D619-05AD-4427-8D3D-77CD325CC920}" type="presParOf" srcId="{91186C63-F21B-4A7E-9163-6314C782E221}" destId="{FBDCEEAC-A7A5-4B88-8A27-EAAC80A870EB}" srcOrd="1" destOrd="0" presId="urn:microsoft.com/office/officeart/2018/5/layout/IconCircleLabelList"/>
    <dgm:cxn modelId="{A5BCC844-34C7-4E40-BD87-9C4AE17C8BBA}" type="presParOf" srcId="{91186C63-F21B-4A7E-9163-6314C782E221}" destId="{7597CAB5-23EA-4BE1-B1FD-B9D70D373A7C}" srcOrd="2" destOrd="0" presId="urn:microsoft.com/office/officeart/2018/5/layout/IconCircleLabelList"/>
    <dgm:cxn modelId="{7A0B0BDA-CACC-466D-9024-98FB98D7406E}" type="presParOf" srcId="{91186C63-F21B-4A7E-9163-6314C782E221}" destId="{72DA4E73-5ACE-4711-8010-2DAAFAD93692}" srcOrd="3" destOrd="0" presId="urn:microsoft.com/office/officeart/2018/5/layout/IconCircleLabelList"/>
    <dgm:cxn modelId="{7F2BD3DD-FC63-4E71-A307-7A244EE85C78}" type="presParOf" srcId="{F79C7552-489E-4645-83C9-044498A09074}" destId="{3C09D2AB-E222-4DC3-ADBA-D5EA179D876D}" srcOrd="1" destOrd="0" presId="urn:microsoft.com/office/officeart/2018/5/layout/IconCircleLabelList"/>
    <dgm:cxn modelId="{1AA490ED-21A1-4F0F-99C3-DC2E9592F8B3}" type="presParOf" srcId="{F79C7552-489E-4645-83C9-044498A09074}" destId="{75778E99-4A9D-491A-873F-128FDEB58B66}" srcOrd="2" destOrd="0" presId="urn:microsoft.com/office/officeart/2018/5/layout/IconCircleLabelList"/>
    <dgm:cxn modelId="{DF8F6DF2-AA5E-4FA8-BAA8-55B4AE2AB6AE}" type="presParOf" srcId="{75778E99-4A9D-491A-873F-128FDEB58B66}" destId="{2C9CDD20-51F8-4B63-A1E3-943F88694D9E}" srcOrd="0" destOrd="0" presId="urn:microsoft.com/office/officeart/2018/5/layout/IconCircleLabelList"/>
    <dgm:cxn modelId="{19047243-0041-4F66-A206-D59ACF544F81}" type="presParOf" srcId="{75778E99-4A9D-491A-873F-128FDEB58B66}" destId="{0C3877D6-5C83-4358-9079-EB4601ADC4BE}" srcOrd="1" destOrd="0" presId="urn:microsoft.com/office/officeart/2018/5/layout/IconCircleLabelList"/>
    <dgm:cxn modelId="{AEB69360-AC4C-4F7B-BEE4-E00E937291BC}" type="presParOf" srcId="{75778E99-4A9D-491A-873F-128FDEB58B66}" destId="{D0C47C9A-9B89-4115-9793-49178926FA85}" srcOrd="2" destOrd="0" presId="urn:microsoft.com/office/officeart/2018/5/layout/IconCircleLabelList"/>
    <dgm:cxn modelId="{78D17E8F-3A0B-411E-A3D7-8E39A24C0618}" type="presParOf" srcId="{75778E99-4A9D-491A-873F-128FDEB58B66}" destId="{6815F9F8-E15E-42B6-8F32-FCEA03F5A3CA}" srcOrd="3" destOrd="0" presId="urn:microsoft.com/office/officeart/2018/5/layout/IconCircleLabelList"/>
    <dgm:cxn modelId="{B68C0ABE-9360-4564-94D3-15476CC48A15}" type="presParOf" srcId="{F79C7552-489E-4645-83C9-044498A09074}" destId="{2FA074FF-2E68-4875-8153-523F68E7A6A1}" srcOrd="3" destOrd="0" presId="urn:microsoft.com/office/officeart/2018/5/layout/IconCircleLabelList"/>
    <dgm:cxn modelId="{90EAEE98-F49A-4F50-A0BE-0CBF0E924C1A}" type="presParOf" srcId="{F79C7552-489E-4645-83C9-044498A09074}" destId="{0B60941C-B5B1-4C92-A528-D548738C5271}" srcOrd="4" destOrd="0" presId="urn:microsoft.com/office/officeart/2018/5/layout/IconCircleLabelList"/>
    <dgm:cxn modelId="{1AA873D4-86FE-434F-9F6D-A3A580FD84FD}" type="presParOf" srcId="{0B60941C-B5B1-4C92-A528-D548738C5271}" destId="{72D7CC0E-0D42-4CDF-A3FC-CB6D2B9AA0C4}" srcOrd="0" destOrd="0" presId="urn:microsoft.com/office/officeart/2018/5/layout/IconCircleLabelList"/>
    <dgm:cxn modelId="{B6BDF738-3676-499A-B62F-409291A8C2EA}" type="presParOf" srcId="{0B60941C-B5B1-4C92-A528-D548738C5271}" destId="{A1ECA9B3-0ABE-4505-824C-4E932B778CE7}" srcOrd="1" destOrd="0" presId="urn:microsoft.com/office/officeart/2018/5/layout/IconCircleLabelList"/>
    <dgm:cxn modelId="{E02855F2-13CE-4CB5-B7F0-44616D435745}" type="presParOf" srcId="{0B60941C-B5B1-4C92-A528-D548738C5271}" destId="{3C8652C5-E125-44A5-82DA-5387F22122AA}" srcOrd="2" destOrd="0" presId="urn:microsoft.com/office/officeart/2018/5/layout/IconCircleLabelList"/>
    <dgm:cxn modelId="{9DEA1B67-3C55-4523-A700-9800114A02F1}" type="presParOf" srcId="{0B60941C-B5B1-4C92-A528-D548738C5271}" destId="{086E6C96-744B-48A5-8D15-B1114BD609A9}" srcOrd="3" destOrd="0" presId="urn:microsoft.com/office/officeart/2018/5/layout/IconCircleLabelList"/>
    <dgm:cxn modelId="{30572F72-B387-4F4B-B4E3-12CACEB590A8}" type="presParOf" srcId="{F79C7552-489E-4645-83C9-044498A09074}" destId="{E2510F85-5299-4041-AE91-5087EED0BEC2}" srcOrd="5" destOrd="0" presId="urn:microsoft.com/office/officeart/2018/5/layout/IconCircleLabelList"/>
    <dgm:cxn modelId="{079990BE-2C8C-4C63-A4E3-480D08C6CEBA}" type="presParOf" srcId="{F79C7552-489E-4645-83C9-044498A09074}" destId="{5D5E76FC-3676-4A3C-B665-ED651792B779}" srcOrd="6" destOrd="0" presId="urn:microsoft.com/office/officeart/2018/5/layout/IconCircleLabelList"/>
    <dgm:cxn modelId="{2B63BBBD-72B5-4D3F-8F54-C9BC3F5E75E6}" type="presParOf" srcId="{5D5E76FC-3676-4A3C-B665-ED651792B779}" destId="{453A5838-7624-4EE9-B08F-92137982D8E5}" srcOrd="0" destOrd="0" presId="urn:microsoft.com/office/officeart/2018/5/layout/IconCircleLabelList"/>
    <dgm:cxn modelId="{A84592FB-C99A-43DD-974D-A1F963E83B76}" type="presParOf" srcId="{5D5E76FC-3676-4A3C-B665-ED651792B779}" destId="{C6940ECA-3BB1-48C9-B5C9-9F9EC58EB248}" srcOrd="1" destOrd="0" presId="urn:microsoft.com/office/officeart/2018/5/layout/IconCircleLabelList"/>
    <dgm:cxn modelId="{3F72B76F-9730-4B22-8581-859722868B04}" type="presParOf" srcId="{5D5E76FC-3676-4A3C-B665-ED651792B779}" destId="{5BF94CB9-8917-4716-A074-AE5D73EB00F6}" srcOrd="2" destOrd="0" presId="urn:microsoft.com/office/officeart/2018/5/layout/IconCircleLabelList"/>
    <dgm:cxn modelId="{40FA0E39-75BA-4A3E-8136-722E5FF4BCC4}" type="presParOf" srcId="{5D5E76FC-3676-4A3C-B665-ED651792B779}" destId="{D18F5A64-DA14-4A2F-9289-86CAE232D8F8}" srcOrd="3" destOrd="0" presId="urn:microsoft.com/office/officeart/2018/5/layout/IconCircleLabelList"/>
    <dgm:cxn modelId="{26E79019-B2BA-4C96-A68C-4D1D01FD50CE}" type="presParOf" srcId="{F79C7552-489E-4645-83C9-044498A09074}" destId="{811B8404-86F9-4267-A9D5-D9605D349CED}" srcOrd="7" destOrd="0" presId="urn:microsoft.com/office/officeart/2018/5/layout/IconCircleLabelList"/>
    <dgm:cxn modelId="{4562A762-292D-4A5D-B324-242CDC2BFF19}" type="presParOf" srcId="{F79C7552-489E-4645-83C9-044498A09074}" destId="{C657D1FF-7FCA-4815-9309-E53F13A3EE4E}" srcOrd="8" destOrd="0" presId="urn:microsoft.com/office/officeart/2018/5/layout/IconCircleLabelList"/>
    <dgm:cxn modelId="{6BD2A238-C9E8-40FA-9075-E3E96C58A53C}" type="presParOf" srcId="{C657D1FF-7FCA-4815-9309-E53F13A3EE4E}" destId="{C76F5558-649D-43BC-BC12-FA26AAC1CD1E}" srcOrd="0" destOrd="0" presId="urn:microsoft.com/office/officeart/2018/5/layout/IconCircleLabelList"/>
    <dgm:cxn modelId="{1B1E3469-A90C-4F8C-91B7-B40FE2AC1DA2}" type="presParOf" srcId="{C657D1FF-7FCA-4815-9309-E53F13A3EE4E}" destId="{E2695678-A341-4250-AF2D-26DAA3687B59}" srcOrd="1" destOrd="0" presId="urn:microsoft.com/office/officeart/2018/5/layout/IconCircleLabelList"/>
    <dgm:cxn modelId="{1FB92341-6206-44D9-BBDE-6085D938AB76}" type="presParOf" srcId="{C657D1FF-7FCA-4815-9309-E53F13A3EE4E}" destId="{1922AFBD-730C-4BC0-9B0F-A445F34DE900}" srcOrd="2" destOrd="0" presId="urn:microsoft.com/office/officeart/2018/5/layout/IconCircleLabelList"/>
    <dgm:cxn modelId="{6223C22A-8DEC-4FD7-B9F0-160FA25C090C}" type="presParOf" srcId="{C657D1FF-7FCA-4815-9309-E53F13A3EE4E}" destId="{9B6FF9BF-DFD4-4CCD-8B4D-62F680A4FDF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AD4E0-2CA2-4BBB-B5E3-9E66749F8088}">
      <dsp:nvSpPr>
        <dsp:cNvPr id="0" name=""/>
        <dsp:cNvSpPr/>
      </dsp:nvSpPr>
      <dsp:spPr>
        <a:xfrm>
          <a:off x="328690" y="229345"/>
          <a:ext cx="1027230" cy="102723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DCEEAC-A7A5-4B88-8A27-EAAC80A870EB}">
      <dsp:nvSpPr>
        <dsp:cNvPr id="0" name=""/>
        <dsp:cNvSpPr/>
      </dsp:nvSpPr>
      <dsp:spPr>
        <a:xfrm>
          <a:off x="547608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A4E73-5ACE-4711-8010-2DAAFAD93692}">
      <dsp:nvSpPr>
        <dsp:cNvPr id="0" name=""/>
        <dsp:cNvSpPr/>
      </dsp:nvSpPr>
      <dsp:spPr>
        <a:xfrm>
          <a:off x="313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Project Overview</a:t>
          </a:r>
        </a:p>
      </dsp:txBody>
      <dsp:txXfrm>
        <a:off x="313" y="1576533"/>
        <a:ext cx="1683984" cy="673593"/>
      </dsp:txXfrm>
    </dsp:sp>
    <dsp:sp modelId="{2C9CDD20-51F8-4B63-A1E3-943F88694D9E}">
      <dsp:nvSpPr>
        <dsp:cNvPr id="0" name=""/>
        <dsp:cNvSpPr/>
      </dsp:nvSpPr>
      <dsp:spPr>
        <a:xfrm>
          <a:off x="2307372" y="229345"/>
          <a:ext cx="1027230" cy="10272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877D6-5C83-4358-9079-EB4601ADC4BE}">
      <dsp:nvSpPr>
        <dsp:cNvPr id="0" name=""/>
        <dsp:cNvSpPr/>
      </dsp:nvSpPr>
      <dsp:spPr>
        <a:xfrm>
          <a:off x="2526290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5F9F8-E15E-42B6-8F32-FCEA03F5A3CA}">
      <dsp:nvSpPr>
        <dsp:cNvPr id="0" name=""/>
        <dsp:cNvSpPr/>
      </dsp:nvSpPr>
      <dsp:spPr>
        <a:xfrm>
          <a:off x="1978995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>
              <a:solidFill>
                <a:schemeClr val="bg1"/>
              </a:solidFill>
            </a:rPr>
            <a:t>Data Overview</a:t>
          </a:r>
        </a:p>
      </dsp:txBody>
      <dsp:txXfrm>
        <a:off x="1978995" y="1576533"/>
        <a:ext cx="1683984" cy="673593"/>
      </dsp:txXfrm>
    </dsp:sp>
    <dsp:sp modelId="{72D7CC0E-0D42-4CDF-A3FC-CB6D2B9AA0C4}">
      <dsp:nvSpPr>
        <dsp:cNvPr id="0" name=""/>
        <dsp:cNvSpPr/>
      </dsp:nvSpPr>
      <dsp:spPr>
        <a:xfrm>
          <a:off x="4286053" y="229345"/>
          <a:ext cx="1027230" cy="102723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CA9B3-0ABE-4505-824C-4E932B778CE7}">
      <dsp:nvSpPr>
        <dsp:cNvPr id="0" name=""/>
        <dsp:cNvSpPr/>
      </dsp:nvSpPr>
      <dsp:spPr>
        <a:xfrm>
          <a:off x="4504971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E6C96-744B-48A5-8D15-B1114BD609A9}">
      <dsp:nvSpPr>
        <dsp:cNvPr id="0" name=""/>
        <dsp:cNvSpPr/>
      </dsp:nvSpPr>
      <dsp:spPr>
        <a:xfrm>
          <a:off x="3957676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Data Acquisition &amp; Processing</a:t>
          </a:r>
        </a:p>
      </dsp:txBody>
      <dsp:txXfrm>
        <a:off x="3957676" y="1576533"/>
        <a:ext cx="1683984" cy="673593"/>
      </dsp:txXfrm>
    </dsp:sp>
    <dsp:sp modelId="{453A5838-7624-4EE9-B08F-92137982D8E5}">
      <dsp:nvSpPr>
        <dsp:cNvPr id="0" name=""/>
        <dsp:cNvSpPr/>
      </dsp:nvSpPr>
      <dsp:spPr>
        <a:xfrm>
          <a:off x="1318031" y="2671123"/>
          <a:ext cx="1027230" cy="102723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40ECA-3BB1-48C9-B5C9-9F9EC58EB248}">
      <dsp:nvSpPr>
        <dsp:cNvPr id="0" name=""/>
        <dsp:cNvSpPr/>
      </dsp:nvSpPr>
      <dsp:spPr>
        <a:xfrm>
          <a:off x="1536949" y="2890041"/>
          <a:ext cx="589394" cy="5893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F5A64-DA14-4A2F-9289-86CAE232D8F8}">
      <dsp:nvSpPr>
        <dsp:cNvPr id="0" name=""/>
        <dsp:cNvSpPr/>
      </dsp:nvSpPr>
      <dsp:spPr>
        <a:xfrm>
          <a:off x="989654" y="40183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 dirty="0">
              <a:solidFill>
                <a:schemeClr val="bg1"/>
              </a:solidFill>
            </a:rPr>
            <a:t>Experimental Roadmap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989654" y="4018310"/>
        <a:ext cx="1683984" cy="673593"/>
      </dsp:txXfrm>
    </dsp:sp>
    <dsp:sp modelId="{C76F5558-649D-43BC-BC12-FA26AAC1CD1E}">
      <dsp:nvSpPr>
        <dsp:cNvPr id="0" name=""/>
        <dsp:cNvSpPr/>
      </dsp:nvSpPr>
      <dsp:spPr>
        <a:xfrm>
          <a:off x="3296713" y="2671123"/>
          <a:ext cx="1027230" cy="102723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95678-A341-4250-AF2D-26DAA3687B59}">
      <dsp:nvSpPr>
        <dsp:cNvPr id="0" name=""/>
        <dsp:cNvSpPr/>
      </dsp:nvSpPr>
      <dsp:spPr>
        <a:xfrm>
          <a:off x="3515631" y="2890041"/>
          <a:ext cx="589394" cy="5893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FF9BF-DFD4-4CCD-8B4D-62F680A4FDFC}">
      <dsp:nvSpPr>
        <dsp:cNvPr id="0" name=""/>
        <dsp:cNvSpPr/>
      </dsp:nvSpPr>
      <dsp:spPr>
        <a:xfrm>
          <a:off x="2968336" y="40183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Take-Aways</a:t>
          </a:r>
        </a:p>
      </dsp:txBody>
      <dsp:txXfrm>
        <a:off x="2968336" y="4018310"/>
        <a:ext cx="1683984" cy="673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5711B-F9AE-4DF4-95C3-A38952EC31B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BC710-FA56-4B9B-ABA8-9FD90D1A7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45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746DE6-3336-457D-A091-FA20AC1C536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74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D24625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4625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4625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70" y="643508"/>
            <a:ext cx="4304322" cy="557037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0" y="0"/>
            <a:ext cx="165100" cy="6858000"/>
          </a:xfrm>
          <a:custGeom>
            <a:avLst/>
            <a:gdLst/>
            <a:ahLst/>
            <a:cxnLst/>
            <a:rect l="l" t="t" r="r" b="b"/>
            <a:pathLst>
              <a:path w="165100" h="6858000">
                <a:moveTo>
                  <a:pt x="164591" y="0"/>
                </a:moveTo>
                <a:lnTo>
                  <a:pt x="0" y="0"/>
                </a:lnTo>
                <a:lnTo>
                  <a:pt x="0" y="6858000"/>
                </a:lnTo>
                <a:lnTo>
                  <a:pt x="164591" y="6858000"/>
                </a:lnTo>
                <a:lnTo>
                  <a:pt x="16459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28591" y="620674"/>
            <a:ext cx="7323455" cy="5593715"/>
          </a:xfrm>
          <a:custGeom>
            <a:avLst/>
            <a:gdLst/>
            <a:ahLst/>
            <a:cxnLst/>
            <a:rect l="l" t="t" r="r" b="b"/>
            <a:pathLst>
              <a:path w="7323455" h="5593715">
                <a:moveTo>
                  <a:pt x="7323200" y="0"/>
                </a:moveTo>
                <a:lnTo>
                  <a:pt x="0" y="0"/>
                </a:lnTo>
                <a:lnTo>
                  <a:pt x="0" y="5593207"/>
                </a:lnTo>
                <a:lnTo>
                  <a:pt x="7323200" y="5593207"/>
                </a:lnTo>
                <a:lnTo>
                  <a:pt x="73232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4625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54550" cy="6858000"/>
          </a:xfrm>
          <a:custGeom>
            <a:avLst/>
            <a:gdLst/>
            <a:ahLst/>
            <a:cxnLst/>
            <a:rect l="l" t="t" r="r" b="b"/>
            <a:pathLst>
              <a:path w="4654550" h="6858000">
                <a:moveTo>
                  <a:pt x="4654296" y="0"/>
                </a:moveTo>
                <a:lnTo>
                  <a:pt x="0" y="0"/>
                </a:lnTo>
                <a:lnTo>
                  <a:pt x="0" y="6858000"/>
                </a:lnTo>
                <a:lnTo>
                  <a:pt x="4654296" y="6858000"/>
                </a:lnTo>
                <a:lnTo>
                  <a:pt x="4654296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D3794B-289A-4A80-97D7-111025398D45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53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52500" y="1284732"/>
            <a:ext cx="10363200" cy="0"/>
          </a:xfrm>
          <a:custGeom>
            <a:avLst/>
            <a:gdLst/>
            <a:ahLst/>
            <a:cxnLst/>
            <a:rect l="l" t="t" r="r" b="b"/>
            <a:pathLst>
              <a:path w="10363200">
                <a:moveTo>
                  <a:pt x="0" y="0"/>
                </a:moveTo>
                <a:lnTo>
                  <a:pt x="103632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2977" y="547242"/>
            <a:ext cx="628078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D24625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79267" y="2389632"/>
            <a:ext cx="7056120" cy="4005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7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github.com/davidyslu/USTC-TFC201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1470249"/>
          </a:xfrm>
        </p:spPr>
        <p:txBody>
          <a:bodyPr>
            <a:normAutofit/>
          </a:bodyPr>
          <a:lstStyle/>
          <a:p>
            <a:r>
              <a:rPr lang="en-US" sz="4000" dirty="0"/>
              <a:t>TRAFFICCLIP OPTIMIZATION EDGE</a:t>
            </a:r>
            <a:br>
              <a:rPr lang="en-US" sz="2200" dirty="0"/>
            </a:br>
            <a:r>
              <a:rPr lang="en-US" sz="2200" dirty="0"/>
              <a:t>A HIGH-PERFORMANCE MULTIMODAL FRAMEWORK FOR ENCRYPTED TRAFFIC CLASSIFICATION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043" y="2773885"/>
            <a:ext cx="6676469" cy="31410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Pramit De</a:t>
            </a:r>
          </a:p>
          <a:p>
            <a:r>
              <a:rPr lang="en-US" dirty="0"/>
              <a:t>March 2026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700" dirty="0"/>
              <a:t>GH: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01172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Contents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6411962-341A-4484-BE7B-326D71A67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90061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9999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132" y="1255547"/>
            <a:ext cx="10052050" cy="308864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Goal:</a:t>
            </a:r>
            <a:endParaRPr sz="1600">
              <a:latin typeface="Segoe UI Semilight"/>
              <a:cs typeface="Segoe UI Semiligh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sz="1600" spc="3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develop</a:t>
            </a:r>
            <a:r>
              <a:rPr sz="1600" spc="3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600" spc="36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high-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performance,</a:t>
            </a:r>
            <a:r>
              <a:rPr sz="1600" spc="37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privacy-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preserving</a:t>
            </a:r>
            <a:r>
              <a:rPr sz="1600" spc="36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classification</a:t>
            </a:r>
            <a:r>
              <a:rPr sz="1600" spc="36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system</a:t>
            </a:r>
            <a:r>
              <a:rPr sz="1600" spc="36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for</a:t>
            </a:r>
            <a:r>
              <a:rPr sz="1600" spc="3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encrypted</a:t>
            </a:r>
            <a:r>
              <a:rPr sz="1600" spc="36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network</a:t>
            </a:r>
            <a:r>
              <a:rPr sz="1600" spc="37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traffic</a:t>
            </a:r>
            <a:r>
              <a:rPr sz="1600" spc="3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Segoe UI"/>
                <a:cs typeface="Segoe UI"/>
              </a:rPr>
              <a:t>that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identifies</a:t>
            </a:r>
            <a:r>
              <a:rPr sz="1600" spc="19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applications</a:t>
            </a:r>
            <a:r>
              <a:rPr sz="1600" spc="19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without</a:t>
            </a:r>
            <a:r>
              <a:rPr sz="1600" spc="204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payload</a:t>
            </a:r>
            <a:r>
              <a:rPr sz="1600" spc="2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inspection</a:t>
            </a:r>
            <a:r>
              <a:rPr sz="1600" spc="2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by</a:t>
            </a:r>
            <a:r>
              <a:rPr sz="1600" spc="2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aligning</a:t>
            </a:r>
            <a:r>
              <a:rPr sz="1600" spc="19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visual</a:t>
            </a:r>
            <a:r>
              <a:rPr sz="1600" spc="204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byte-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patterns,</a:t>
            </a:r>
            <a:r>
              <a:rPr sz="1600" spc="2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behavioral</a:t>
            </a:r>
            <a:r>
              <a:rPr sz="1600" spc="2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semantics,</a:t>
            </a:r>
            <a:r>
              <a:rPr sz="1600" spc="204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flow</a:t>
            </a:r>
            <a:r>
              <a:rPr sz="16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physics.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1600">
              <a:latin typeface="Segoe UI"/>
              <a:cs typeface="Segoe U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Data</a:t>
            </a:r>
            <a:r>
              <a:rPr sz="1600" spc="-4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Source:</a:t>
            </a:r>
            <a:endParaRPr sz="1600">
              <a:latin typeface="Segoe UI Semilight"/>
              <a:cs typeface="Segoe UI Semilight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https://raw.githubusercontent.com/yungshenglu/USTC-TFC2016/master</a:t>
            </a:r>
            <a:endParaRPr sz="1800">
              <a:latin typeface="Segoe UI"/>
              <a:cs typeface="Segoe UI"/>
            </a:endParaRPr>
          </a:p>
          <a:p>
            <a:pPr marL="298450" indent="-285750">
              <a:lnSpc>
                <a:spcPct val="100000"/>
              </a:lnSpc>
              <a:spcBef>
                <a:spcPts val="216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Outcome:</a:t>
            </a:r>
            <a:endParaRPr sz="180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8860" y="4507229"/>
          <a:ext cx="10349862" cy="2000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9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9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9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558%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Improvement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5041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Boosted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sz="10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0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0.12</a:t>
                      </a: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0.79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optimized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multimodal</a:t>
                      </a:r>
                      <a:r>
                        <a:rPr sz="10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fusion</a:t>
                      </a:r>
                      <a:r>
                        <a:rPr sz="10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techniques.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Architecture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3.37×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Better</a:t>
                      </a:r>
                      <a:r>
                        <a:rPr sz="10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407034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Achieved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significant</a:t>
                      </a:r>
                      <a:r>
                        <a:rPr sz="10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gains</a:t>
                      </a:r>
                      <a:r>
                        <a:rPr sz="10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0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0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1.07%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0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0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overhead.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Convergence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1%</a:t>
                      </a:r>
                      <a:r>
                        <a:rPr sz="10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r>
                        <a:rPr sz="10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Epochs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Domain-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informed</a:t>
                      </a:r>
                      <a:r>
                        <a:rPr sz="10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prompts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enabled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steady</a:t>
                      </a:r>
                      <a:r>
                        <a:rPr sz="10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and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7.3%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higher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validation Macro</a:t>
                      </a:r>
                      <a:r>
                        <a:rPr sz="10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Efficiency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~1.05M</a:t>
                      </a: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17399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Maintained</a:t>
                      </a:r>
                      <a:r>
                        <a:rPr sz="10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lightweight</a:t>
                      </a:r>
                      <a:r>
                        <a:rPr sz="10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architecture</a:t>
                      </a: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0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high-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speed, ISP-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scale</a:t>
                      </a:r>
                      <a:r>
                        <a:rPr sz="10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monitoring.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9482" y="1343304"/>
            <a:ext cx="10516870" cy="15805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59"/>
              </a:spcBef>
              <a:buFont typeface="Wingdings"/>
              <a:buChar char=""/>
              <a:tabLst>
                <a:tab pos="298450" algn="l"/>
              </a:tabLst>
            </a:pPr>
            <a:r>
              <a:rPr sz="16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Origin:</a:t>
            </a:r>
            <a:endParaRPr sz="1600">
              <a:latin typeface="Segoe UI Semilight"/>
              <a:cs typeface="Segoe UI Semilight"/>
            </a:endParaRPr>
          </a:p>
          <a:p>
            <a:pPr marL="12700" marR="5080">
              <a:lnSpc>
                <a:spcPct val="100000"/>
              </a:lnSpc>
              <a:spcBef>
                <a:spcPts val="360"/>
              </a:spcBef>
            </a:pP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sourced</a:t>
            </a:r>
            <a:r>
              <a:rPr sz="16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from</a:t>
            </a:r>
            <a:r>
              <a:rPr sz="16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30" dirty="0">
                <a:solidFill>
                  <a:srgbClr val="FFFFFF"/>
                </a:solidFill>
                <a:latin typeface="Segoe UI"/>
                <a:cs typeface="Segoe UI"/>
              </a:rPr>
              <a:t>USTC-</a:t>
            </a:r>
            <a:r>
              <a:rPr sz="1600" b="1" dirty="0">
                <a:solidFill>
                  <a:srgbClr val="FFFFFF"/>
                </a:solidFill>
                <a:latin typeface="Segoe UI"/>
                <a:cs typeface="Segoe UI"/>
              </a:rPr>
              <a:t>TFC2016</a:t>
            </a:r>
            <a:r>
              <a:rPr sz="1600" b="1" spc="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dataset,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publicly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available</a:t>
            </a:r>
            <a:r>
              <a:rPr sz="16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repository for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encrypted</a:t>
            </a:r>
            <a:r>
              <a:rPr sz="16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traffic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classification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research.</a:t>
            </a:r>
            <a:r>
              <a:rPr sz="16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It</a:t>
            </a:r>
            <a:r>
              <a:rPr sz="16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contains</a:t>
            </a:r>
            <a:r>
              <a:rPr sz="16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raw</a:t>
            </a:r>
            <a:r>
              <a:rPr sz="16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network</a:t>
            </a:r>
            <a:r>
              <a:rPr sz="16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traffic</a:t>
            </a:r>
            <a:r>
              <a:rPr sz="16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(PCAP</a:t>
            </a:r>
            <a:r>
              <a:rPr sz="16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files)</a:t>
            </a:r>
            <a:r>
              <a:rPr sz="16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captured</a:t>
            </a:r>
            <a:r>
              <a:rPr sz="16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sz="16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real-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world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scenarios,</a:t>
            </a:r>
            <a:r>
              <a:rPr sz="16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representing</a:t>
            </a:r>
            <a:r>
              <a:rPr sz="16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both</a:t>
            </a:r>
            <a:r>
              <a:rPr sz="1600" spc="-6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benign</a:t>
            </a:r>
            <a:r>
              <a:rPr sz="16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Segoe UI"/>
                <a:cs typeface="Segoe UI"/>
              </a:rPr>
              <a:t>and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malicious</a:t>
            </a:r>
            <a:r>
              <a:rPr sz="1600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"/>
                <a:cs typeface="Segoe UI"/>
              </a:rPr>
              <a:t>encrypted</a:t>
            </a:r>
            <a:r>
              <a:rPr sz="16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flows.</a:t>
            </a:r>
            <a:endParaRPr sz="1600">
              <a:latin typeface="Segoe UI"/>
              <a:cs typeface="Segoe UI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Wingdings"/>
              <a:buChar char=""/>
              <a:tabLst>
                <a:tab pos="298450" algn="l"/>
              </a:tabLst>
            </a:pPr>
            <a:r>
              <a:rPr sz="1600" b="1" dirty="0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  <a:r>
              <a:rPr sz="16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Segoe UI"/>
                <a:cs typeface="Segoe UI"/>
              </a:rPr>
              <a:t>Link:</a:t>
            </a:r>
            <a:r>
              <a:rPr sz="1600" b="1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2"/>
              </a:rPr>
              <a:t>USTC-</a:t>
            </a:r>
            <a:r>
              <a:rPr sz="16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2"/>
              </a:rPr>
              <a:t>TFC2016</a:t>
            </a:r>
            <a:r>
              <a:rPr sz="16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6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2"/>
              </a:rPr>
              <a:t>GitHub</a:t>
            </a:r>
            <a:r>
              <a:rPr sz="16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2"/>
              </a:rPr>
              <a:t>Repository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016" y="4114571"/>
            <a:ext cx="10686415" cy="995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3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Acquisition</a:t>
            </a:r>
            <a:r>
              <a:rPr spc="-5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4455" y="1536308"/>
            <a:ext cx="5160645" cy="12261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425"/>
              </a:spcBef>
              <a:buSzPct val="86666"/>
              <a:buFont typeface="Wingdings"/>
              <a:buChar char=""/>
              <a:tabLst>
                <a:tab pos="284480" algn="l"/>
              </a:tabLst>
            </a:pPr>
            <a:r>
              <a:rPr sz="1500" dirty="0">
                <a:solidFill>
                  <a:srgbClr val="FFFFFF"/>
                </a:solidFill>
                <a:latin typeface="Segoe UI Semilight"/>
                <a:cs typeface="Segoe UI Semilight"/>
              </a:rPr>
              <a:t>Data</a:t>
            </a:r>
            <a:r>
              <a:rPr sz="1500" spc="-4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500" dirty="0">
                <a:solidFill>
                  <a:srgbClr val="FFFFFF"/>
                </a:solidFill>
                <a:latin typeface="Segoe UI Semilight"/>
                <a:cs typeface="Segoe UI Semilight"/>
              </a:rPr>
              <a:t>Acquisition</a:t>
            </a:r>
            <a:r>
              <a:rPr sz="15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Strategy</a:t>
            </a:r>
            <a:endParaRPr sz="1500" dirty="0">
              <a:latin typeface="Segoe UI Semilight"/>
              <a:cs typeface="Segoe UI Semilight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Wingdings"/>
              <a:buChar char=""/>
              <a:tabLst>
                <a:tab pos="698500" algn="l"/>
              </a:tabLst>
            </a:pPr>
            <a:r>
              <a:rPr lang="en-IN"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Target Classes: The dataset focuses on a 10-class subset consisting of five benign traffic categories—Skype, MySQL, BitTorrent, Facetime, and Weibo—and five malware families—Zeus, </a:t>
            </a:r>
            <a:r>
              <a:rPr lang="en-IN" sz="1100" dirty="0" err="1">
                <a:solidFill>
                  <a:srgbClr val="FFFFFF"/>
                </a:solidFill>
                <a:latin typeface="Segoe UI Semilight"/>
                <a:cs typeface="Segoe UI Semilight"/>
              </a:rPr>
              <a:t>Tinba</a:t>
            </a:r>
            <a:r>
              <a:rPr lang="en-IN"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, </a:t>
            </a:r>
            <a:r>
              <a:rPr lang="en-IN" sz="1100" dirty="0" err="1">
                <a:solidFill>
                  <a:srgbClr val="FFFFFF"/>
                </a:solidFill>
                <a:latin typeface="Segoe UI Semilight"/>
                <a:cs typeface="Segoe UI Semilight"/>
              </a:rPr>
              <a:t>Cridex</a:t>
            </a:r>
            <a:r>
              <a:rPr lang="en-IN"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, Geodo, and </a:t>
            </a:r>
            <a:r>
              <a:rPr lang="en-IN" sz="1100" dirty="0" err="1">
                <a:solidFill>
                  <a:srgbClr val="FFFFFF"/>
                </a:solidFill>
                <a:latin typeface="Segoe UI Semilight"/>
                <a:cs typeface="Segoe UI Semilight"/>
              </a:rPr>
              <a:t>Miuref</a:t>
            </a:r>
            <a:r>
              <a:rPr lang="en-IN"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.</a:t>
            </a: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Wingdings"/>
              <a:buChar char=""/>
              <a:tabLst>
                <a:tab pos="698500" algn="l"/>
              </a:tabLst>
            </a:pPr>
            <a:r>
              <a:rPr lang="en-IN"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Sampling: To ensure a balanced dataset, 900 samples were extracted from each class, resulting in a total of 9,000 samples.</a:t>
            </a:r>
            <a:endParaRPr sz="1100" dirty="0">
              <a:latin typeface="Segoe UI Semilight"/>
              <a:cs typeface="Segoe UI Semi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455" y="2622610"/>
            <a:ext cx="5160645" cy="352234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30"/>
              </a:spcBef>
              <a:buFont typeface="Wingdings"/>
              <a:buChar char=""/>
              <a:tabLst>
                <a:tab pos="240665" algn="l"/>
              </a:tabLst>
            </a:pPr>
            <a:r>
              <a:rPr sz="1700" dirty="0">
                <a:solidFill>
                  <a:srgbClr val="FFFFFF"/>
                </a:solidFill>
                <a:latin typeface="Segoe UI Semilight"/>
                <a:cs typeface="Segoe UI Semilight"/>
              </a:rPr>
              <a:t>Multi-Modal</a:t>
            </a:r>
            <a:r>
              <a:rPr sz="1700" spc="-8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700" dirty="0">
                <a:solidFill>
                  <a:srgbClr val="FFFFFF"/>
                </a:solidFill>
                <a:latin typeface="Segoe UI Semilight"/>
                <a:cs typeface="Segoe UI Semilight"/>
              </a:rPr>
              <a:t>Processing</a:t>
            </a:r>
            <a:r>
              <a:rPr sz="1700" spc="-7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Pipeline</a:t>
            </a:r>
            <a:endParaRPr sz="1700" dirty="0">
              <a:latin typeface="Segoe UI Semilight"/>
              <a:cs typeface="Segoe UI Semilight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Wingdings"/>
              <a:buChar char=""/>
              <a:tabLst>
                <a:tab pos="240665" algn="l"/>
              </a:tabLst>
            </a:pP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A.</a:t>
            </a:r>
            <a:r>
              <a:rPr sz="1300" spc="-4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Visual</a:t>
            </a:r>
            <a:r>
              <a:rPr sz="13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Modality</a:t>
            </a:r>
            <a:r>
              <a:rPr sz="13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(Greyscale</a:t>
            </a:r>
            <a:r>
              <a:rPr sz="1300" spc="-5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Images)</a:t>
            </a:r>
            <a:endParaRPr sz="1300" dirty="0">
              <a:latin typeface="Segoe UI Semilight"/>
              <a:cs typeface="Segoe UI Semilight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Wingdings"/>
              <a:buChar char=""/>
              <a:tabLst>
                <a:tab pos="697865" algn="l"/>
              </a:tabLst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Flow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Extraction:</a:t>
            </a:r>
            <a:r>
              <a:rPr sz="1100" spc="-5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Packets</a:t>
            </a:r>
            <a:r>
              <a:rPr sz="11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are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grouped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into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bidirectional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5-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tuple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flows.</a:t>
            </a:r>
            <a:endParaRPr sz="1100" dirty="0">
              <a:latin typeface="Segoe UI Semilight"/>
              <a:cs typeface="Segoe UI Semilight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495"/>
              </a:spcBef>
              <a:buFont typeface="Wingdings"/>
              <a:buChar char=""/>
              <a:tabLst>
                <a:tab pos="698500" algn="l"/>
              </a:tabLst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Fixed</a:t>
            </a:r>
            <a:r>
              <a:rPr sz="1100" spc="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Dimensioning:</a:t>
            </a:r>
            <a:r>
              <a:rPr sz="1100" spc="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The</a:t>
            </a:r>
            <a:r>
              <a:rPr sz="1100" spc="-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first</a:t>
            </a:r>
            <a:r>
              <a:rPr sz="1100" spc="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784 bytes</a:t>
            </a:r>
            <a:r>
              <a:rPr sz="1100" spc="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are</a:t>
            </a:r>
            <a:r>
              <a:rPr sz="1100" spc="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extracted</a:t>
            </a:r>
            <a:r>
              <a:rPr sz="1100" spc="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and</a:t>
            </a:r>
            <a:r>
              <a:rPr sz="1100" spc="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reshaped</a:t>
            </a:r>
            <a:r>
              <a:rPr sz="1100" spc="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into</a:t>
            </a:r>
            <a:r>
              <a:rPr sz="1100" spc="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Segoe UI Semilight"/>
                <a:cs typeface="Segoe UI Semilight"/>
              </a:rPr>
              <a:t>a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28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*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28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normalized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greyscale</a:t>
            </a:r>
            <a:r>
              <a:rPr sz="1100" spc="-3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image.</a:t>
            </a:r>
            <a:endParaRPr sz="1100" dirty="0">
              <a:latin typeface="Segoe UI Semilight"/>
              <a:cs typeface="Segoe UI Semilight"/>
            </a:endParaRPr>
          </a:p>
          <a:p>
            <a:pPr marL="697865" lvl="1" indent="-227965">
              <a:lnSpc>
                <a:spcPts val="1190"/>
              </a:lnSpc>
              <a:spcBef>
                <a:spcPts val="240"/>
              </a:spcBef>
              <a:buFont typeface="Wingdings"/>
              <a:buChar char=""/>
              <a:tabLst>
                <a:tab pos="697865" algn="l"/>
              </a:tabLst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Header</a:t>
            </a:r>
            <a:r>
              <a:rPr sz="1100" spc="9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Anonymization:</a:t>
            </a:r>
            <a:r>
              <a:rPr sz="1100" spc="10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The</a:t>
            </a:r>
            <a:r>
              <a:rPr sz="1100" spc="10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first</a:t>
            </a:r>
            <a:r>
              <a:rPr sz="1100" spc="10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54</a:t>
            </a:r>
            <a:r>
              <a:rPr sz="1100" spc="9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bytes</a:t>
            </a:r>
            <a:r>
              <a:rPr sz="1100" spc="9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(L2/L3/L4</a:t>
            </a:r>
            <a:r>
              <a:rPr sz="1100" spc="9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headers)</a:t>
            </a:r>
            <a:r>
              <a:rPr sz="1100" spc="10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are</a:t>
            </a:r>
            <a:r>
              <a:rPr sz="1100" spc="10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zeroed</a:t>
            </a:r>
            <a:endParaRPr sz="1100" dirty="0">
              <a:latin typeface="Segoe UI Semilight"/>
              <a:cs typeface="Segoe UI Semilight"/>
            </a:endParaRPr>
          </a:p>
          <a:p>
            <a:pPr marL="698500" marR="6350">
              <a:lnSpc>
                <a:spcPts val="1060"/>
              </a:lnSpc>
              <a:spcBef>
                <a:spcPts val="120"/>
              </a:spcBef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to</a:t>
            </a:r>
            <a:r>
              <a:rPr sz="1100" spc="3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force</a:t>
            </a:r>
            <a:r>
              <a:rPr sz="1100" spc="3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the</a:t>
            </a:r>
            <a:r>
              <a:rPr sz="1100" spc="3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model</a:t>
            </a:r>
            <a:r>
              <a:rPr sz="1100" spc="3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to</a:t>
            </a:r>
            <a:r>
              <a:rPr sz="1100" spc="35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learn</a:t>
            </a:r>
            <a:r>
              <a:rPr sz="1100" spc="37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application-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specific</a:t>
            </a:r>
            <a:r>
              <a:rPr sz="1100" spc="37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payloads</a:t>
            </a:r>
            <a:r>
              <a:rPr sz="1100" spc="3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instead</a:t>
            </a:r>
            <a:r>
              <a:rPr sz="1100" spc="37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of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network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routing</a:t>
            </a:r>
            <a:r>
              <a:rPr sz="1100" spc="-5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metadata.</a:t>
            </a:r>
            <a:endParaRPr sz="1100" dirty="0">
              <a:latin typeface="Segoe UI Semilight"/>
              <a:cs typeface="Segoe UI Semilight"/>
            </a:endParaRPr>
          </a:p>
          <a:p>
            <a:pPr marL="240665" indent="-227965" algn="just">
              <a:lnSpc>
                <a:spcPts val="1190"/>
              </a:lnSpc>
              <a:spcBef>
                <a:spcPts val="735"/>
              </a:spcBef>
              <a:buFont typeface="Wingdings"/>
              <a:buChar char=""/>
              <a:tabLst>
                <a:tab pos="240665" algn="l"/>
              </a:tabLst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B.</a:t>
            </a:r>
            <a:r>
              <a:rPr sz="11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Statistical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Modality</a:t>
            </a:r>
            <a:r>
              <a:rPr sz="11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(Flow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Physics)Specific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 session-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level</a:t>
            </a:r>
            <a:r>
              <a:rPr sz="1100" spc="-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metrics</a:t>
            </a:r>
            <a:r>
              <a:rPr sz="11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are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calculated 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to</a:t>
            </a:r>
            <a:endParaRPr sz="1100" dirty="0">
              <a:latin typeface="Segoe UI Semilight"/>
              <a:cs typeface="Segoe UI Semilight"/>
            </a:endParaRPr>
          </a:p>
          <a:p>
            <a:pPr marL="241300" marR="5080" algn="just">
              <a:lnSpc>
                <a:spcPct val="80100"/>
              </a:lnSpc>
              <a:spcBef>
                <a:spcPts val="130"/>
              </a:spcBef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provide</a:t>
            </a:r>
            <a:r>
              <a:rPr sz="1100" spc="1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the</a:t>
            </a:r>
            <a:r>
              <a:rPr sz="1100" spc="1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StatsProjectionHead</a:t>
            </a:r>
            <a:r>
              <a:rPr sz="1100" spc="1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with</a:t>
            </a:r>
            <a:r>
              <a:rPr sz="1100" spc="10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behavioral</a:t>
            </a:r>
            <a:r>
              <a:rPr sz="1100" spc="10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context:Inter-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Arrival</a:t>
            </a:r>
            <a:r>
              <a:rPr sz="1100" spc="1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Time</a:t>
            </a:r>
            <a:r>
              <a:rPr sz="1100" spc="10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(IAT):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Captures</a:t>
            </a:r>
            <a:r>
              <a:rPr sz="1100" spc="254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the</a:t>
            </a:r>
            <a:r>
              <a:rPr sz="1100" spc="24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Mean</a:t>
            </a:r>
            <a:r>
              <a:rPr sz="1100" spc="2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IAT</a:t>
            </a:r>
            <a:r>
              <a:rPr sz="1100" spc="25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and</a:t>
            </a:r>
            <a:r>
              <a:rPr sz="1100" spc="2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Jitter</a:t>
            </a:r>
            <a:r>
              <a:rPr sz="1100" spc="254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to</a:t>
            </a:r>
            <a:r>
              <a:rPr sz="1100" spc="2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distinguish</a:t>
            </a:r>
            <a:r>
              <a:rPr sz="1100" spc="2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between</a:t>
            </a:r>
            <a:r>
              <a:rPr sz="1100" spc="2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bursty</a:t>
            </a:r>
            <a:r>
              <a:rPr sz="1100" spc="254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(Gmail)</a:t>
            </a:r>
            <a:r>
              <a:rPr sz="1100" spc="2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and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persistent</a:t>
            </a:r>
            <a:r>
              <a:rPr sz="1100" spc="5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(BitTorrent)</a:t>
            </a:r>
            <a:r>
              <a:rPr sz="1100" spc="3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protocols.Shannon</a:t>
            </a:r>
            <a:r>
              <a:rPr sz="1100" spc="4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Entropy:</a:t>
            </a:r>
            <a:r>
              <a:rPr sz="1100" spc="4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Measures</a:t>
            </a:r>
            <a:r>
              <a:rPr sz="1100" spc="3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byte</a:t>
            </a:r>
            <a:r>
              <a:rPr sz="1100" spc="4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randomness</a:t>
            </a:r>
            <a:r>
              <a:rPr sz="1100" spc="4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to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identify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the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level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of</a:t>
            </a:r>
            <a:r>
              <a:rPr sz="11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encryption</a:t>
            </a:r>
            <a:r>
              <a:rPr sz="1100" spc="-5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or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obfuscation</a:t>
            </a:r>
            <a:r>
              <a:rPr sz="1100" spc="-5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the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payload.</a:t>
            </a:r>
            <a:endParaRPr sz="1100" dirty="0">
              <a:latin typeface="Segoe UI Semilight"/>
              <a:cs typeface="Segoe UI Semilight"/>
            </a:endParaRPr>
          </a:p>
          <a:p>
            <a:pPr marL="241300" marR="6350" indent="-228600">
              <a:lnSpc>
                <a:spcPts val="1250"/>
              </a:lnSpc>
              <a:spcBef>
                <a:spcPts val="990"/>
              </a:spcBef>
              <a:buFont typeface="Wingdings"/>
              <a:buChar char=""/>
              <a:tabLst>
                <a:tab pos="241300" algn="l"/>
              </a:tabLst>
            </a:pP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C.</a:t>
            </a:r>
            <a:r>
              <a:rPr sz="1300" spc="18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Data</a:t>
            </a:r>
            <a:r>
              <a:rPr sz="1300" spc="19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Structuring</a:t>
            </a:r>
            <a:r>
              <a:rPr sz="1300" spc="19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&amp;</a:t>
            </a:r>
            <a:r>
              <a:rPr sz="1300" spc="18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StorageThe</a:t>
            </a:r>
            <a:r>
              <a:rPr sz="1300" spc="18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processed</a:t>
            </a:r>
            <a:r>
              <a:rPr sz="1300" spc="18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data</a:t>
            </a:r>
            <a:r>
              <a:rPr sz="1300" spc="18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is</a:t>
            </a:r>
            <a:r>
              <a:rPr sz="1300" spc="19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exported</a:t>
            </a:r>
            <a:r>
              <a:rPr sz="1300" spc="204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as</a:t>
            </a:r>
            <a:r>
              <a:rPr sz="1300" spc="18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Segoe UI Semilight"/>
                <a:cs typeface="Segoe UI Semilight"/>
              </a:rPr>
              <a:t>a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compressed</a:t>
            </a:r>
            <a:r>
              <a:rPr sz="1300" spc="-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NumPy</a:t>
            </a:r>
            <a:r>
              <a:rPr sz="1300" spc="-5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(.npz)</a:t>
            </a:r>
            <a:r>
              <a:rPr sz="1300" spc="-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 Semilight"/>
                <a:cs typeface="Segoe UI Semilight"/>
              </a:rPr>
              <a:t>archive</a:t>
            </a:r>
            <a:r>
              <a:rPr sz="1300" spc="-6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containing:</a:t>
            </a:r>
            <a:endParaRPr sz="1300" dirty="0">
              <a:latin typeface="Segoe UI Semilight"/>
              <a:cs typeface="Segoe UI Semilight"/>
            </a:endParaRPr>
          </a:p>
          <a:p>
            <a:pPr marL="697865" lvl="1" indent="-227965">
              <a:lnSpc>
                <a:spcPct val="100000"/>
              </a:lnSpc>
              <a:spcBef>
                <a:spcPts val="244"/>
              </a:spcBef>
              <a:buFont typeface="Wingdings"/>
              <a:buChar char=""/>
              <a:tabLst>
                <a:tab pos="697865" algn="l"/>
              </a:tabLst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Visual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Samples:</a:t>
            </a:r>
            <a:r>
              <a:rPr sz="1100" spc="-3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reshaped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28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*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28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image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tensors.</a:t>
            </a:r>
            <a:endParaRPr sz="1100" dirty="0">
              <a:latin typeface="Segoe UI Semilight"/>
              <a:cs typeface="Segoe UI Semilight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697865" algn="l"/>
              </a:tabLst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Physics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Tensors:</a:t>
            </a:r>
            <a:r>
              <a:rPr sz="1100" spc="-4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3-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element</a:t>
            </a:r>
            <a:r>
              <a:rPr sz="1100" spc="-4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vectors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[Mean</a:t>
            </a:r>
            <a:r>
              <a:rPr sz="1100" spc="-5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IAT,</a:t>
            </a:r>
            <a:r>
              <a:rPr sz="1100" spc="-3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Jitter,</a:t>
            </a:r>
            <a:r>
              <a:rPr sz="1100" spc="-1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Entropy].</a:t>
            </a:r>
            <a:endParaRPr sz="1100" dirty="0">
              <a:latin typeface="Segoe UI Semilight"/>
              <a:cs typeface="Segoe UI Semilight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697865" algn="l"/>
              </a:tabLst>
            </a:pP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Categorical</a:t>
            </a:r>
            <a:r>
              <a:rPr sz="11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Labels:</a:t>
            </a:r>
            <a:r>
              <a:rPr sz="1100" spc="-3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Integer-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mapped</a:t>
            </a:r>
            <a:r>
              <a:rPr sz="1100" spc="-4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IDs for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 Semilight"/>
                <a:cs typeface="Segoe UI Semilight"/>
              </a:rPr>
              <a:t>supervised</a:t>
            </a:r>
            <a:r>
              <a:rPr sz="11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learning.</a:t>
            </a:r>
            <a:endParaRPr sz="1100" dirty="0">
              <a:latin typeface="Segoe UI Semilight"/>
              <a:cs typeface="Segoe UI Semi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33338" y="1876805"/>
            <a:ext cx="0" cy="4250055"/>
          </a:xfrm>
          <a:custGeom>
            <a:avLst/>
            <a:gdLst/>
            <a:ahLst/>
            <a:cxnLst/>
            <a:rect l="l" t="t" r="r" b="b"/>
            <a:pathLst>
              <a:path h="4250055">
                <a:moveTo>
                  <a:pt x="0" y="0"/>
                </a:moveTo>
                <a:lnTo>
                  <a:pt x="0" y="424947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67347" y="1917573"/>
            <a:ext cx="2433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560" indent="-276860">
              <a:lnSpc>
                <a:spcPct val="100000"/>
              </a:lnSpc>
              <a:spcBef>
                <a:spcPts val="95"/>
              </a:spcBef>
              <a:buSzPct val="87500"/>
              <a:buFont typeface="Wingdings"/>
              <a:buChar char=""/>
              <a:tabLst>
                <a:tab pos="289560" algn="l"/>
              </a:tabLst>
            </a:pPr>
            <a:r>
              <a:rPr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Processed</a:t>
            </a:r>
            <a:r>
              <a:rPr sz="16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Binary</a:t>
            </a:r>
            <a:r>
              <a:rPr sz="16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 Image:</a:t>
            </a:r>
            <a:endParaRPr sz="1600">
              <a:latin typeface="Segoe UI Semilight"/>
              <a:cs typeface="Segoe UI Semi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9207" y="2435567"/>
            <a:ext cx="333375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630" dirty="0"/>
              <a:t>V</a:t>
            </a:r>
            <a:r>
              <a:rPr dirty="0"/>
              <a:t>.</a:t>
            </a:r>
            <a:r>
              <a:rPr spc="-15" dirty="0"/>
              <a:t> </a:t>
            </a:r>
            <a:r>
              <a:rPr lang="en-IN" dirty="0"/>
              <a:t>Experimental Roadmap</a:t>
            </a:r>
            <a:endParaRPr spc="-1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0D8114-9B33-343C-72CA-AD4BDB92F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330452"/>
              </p:ext>
            </p:extLst>
          </p:nvPr>
        </p:nvGraphicFramePr>
        <p:xfrm>
          <a:off x="1219200" y="1656399"/>
          <a:ext cx="8133531" cy="3354150"/>
        </p:xfrm>
        <a:graphic>
          <a:graphicData uri="http://schemas.openxmlformats.org/drawingml/2006/table">
            <a:tbl>
              <a:tblPr/>
              <a:tblGrid>
                <a:gridCol w="1253817">
                  <a:extLst>
                    <a:ext uri="{9D8B030D-6E8A-4147-A177-3AD203B41FA5}">
                      <a16:colId xmlns:a16="http://schemas.microsoft.com/office/drawing/2014/main" val="2777930918"/>
                    </a:ext>
                  </a:extLst>
                </a:gridCol>
                <a:gridCol w="2762353">
                  <a:extLst>
                    <a:ext uri="{9D8B030D-6E8A-4147-A177-3AD203B41FA5}">
                      <a16:colId xmlns:a16="http://schemas.microsoft.com/office/drawing/2014/main" val="3880160111"/>
                    </a:ext>
                  </a:extLst>
                </a:gridCol>
                <a:gridCol w="804863">
                  <a:extLst>
                    <a:ext uri="{9D8B030D-6E8A-4147-A177-3AD203B41FA5}">
                      <a16:colId xmlns:a16="http://schemas.microsoft.com/office/drawing/2014/main" val="1503437495"/>
                    </a:ext>
                  </a:extLst>
                </a:gridCol>
                <a:gridCol w="1225904">
                  <a:extLst>
                    <a:ext uri="{9D8B030D-6E8A-4147-A177-3AD203B41FA5}">
                      <a16:colId xmlns:a16="http://schemas.microsoft.com/office/drawing/2014/main" val="523496342"/>
                    </a:ext>
                  </a:extLst>
                </a:gridCol>
                <a:gridCol w="1199152">
                  <a:extLst>
                    <a:ext uri="{9D8B030D-6E8A-4147-A177-3AD203B41FA5}">
                      <a16:colId xmlns:a16="http://schemas.microsoft.com/office/drawing/2014/main" val="871422416"/>
                    </a:ext>
                  </a:extLst>
                </a:gridCol>
                <a:gridCol w="887442">
                  <a:extLst>
                    <a:ext uri="{9D8B030D-6E8A-4147-A177-3AD203B41FA5}">
                      <a16:colId xmlns:a16="http://schemas.microsoft.com/office/drawing/2014/main" val="223175384"/>
                    </a:ext>
                  </a:extLst>
                </a:gridCol>
              </a:tblGrid>
              <a:tr h="52877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Model Variant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Configuration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Val Acc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Val F1-Macro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Val Precision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Val Recall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1246"/>
                  </a:ext>
                </a:extLst>
              </a:tr>
              <a:tr h="52877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Original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Without Stats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0.6274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0.6221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0.6577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0.6274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12510"/>
                  </a:ext>
                </a:extLst>
              </a:tr>
              <a:tr h="52877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Original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With Stats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0.6163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0.5905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0.6514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0.6163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83366"/>
                  </a:ext>
                </a:extLst>
              </a:tr>
              <a:tr h="52877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Optimized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Original Prompts / No Stats Head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0.6163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0.631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0.7509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0.6163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77931"/>
                  </a:ext>
                </a:extLst>
              </a:tr>
              <a:tr h="52877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Optimized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Semantic Prompts / No Stats Head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0.7933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0.7857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0.8109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0.7933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632241"/>
                  </a:ext>
                </a:extLst>
              </a:tr>
              <a:tr h="52877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Optimized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Original Prompts / Stats Head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0.6644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0.6701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0.7878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0.6644</a:t>
                      </a:r>
                    </a:p>
                  </a:txBody>
                  <a:tcPr marL="50800" marR="50800" marT="50800" marB="508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8058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1454D1-A7A3-41A6-FCC9-AA796F5B96C7}"/>
              </a:ext>
            </a:extLst>
          </p:cNvPr>
          <p:cNvSpPr txBox="1"/>
          <p:nvPr/>
        </p:nvSpPr>
        <p:spPr>
          <a:xfrm>
            <a:off x="1371600" y="5387428"/>
            <a:ext cx="693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Insight:</a:t>
            </a:r>
            <a:r>
              <a:rPr lang="en-US" dirty="0">
                <a:solidFill>
                  <a:schemeClr val="bg1"/>
                </a:solidFill>
              </a:rPr>
              <a:t> Semantic prompts alone drove the F1-score from </a:t>
            </a:r>
            <a:r>
              <a:rPr lang="en-US" b="1" dirty="0">
                <a:solidFill>
                  <a:schemeClr val="bg1"/>
                </a:solidFill>
              </a:rPr>
              <a:t>0.62 to 0.78</a:t>
            </a:r>
            <a:r>
              <a:rPr lang="en-US" dirty="0">
                <a:solidFill>
                  <a:schemeClr val="bg1"/>
                </a:solidFill>
              </a:rPr>
              <a:t>, proving the power of LLM-informed feature anchoring.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630" dirty="0"/>
              <a:t>V</a:t>
            </a:r>
            <a:r>
              <a:rPr dirty="0"/>
              <a:t>.</a:t>
            </a:r>
            <a:r>
              <a:rPr spc="-15" dirty="0"/>
              <a:t> </a:t>
            </a:r>
            <a:r>
              <a:rPr lang="en-US" spc="-15" dirty="0"/>
              <a:t>Hyperparameter </a:t>
            </a:r>
            <a:r>
              <a:rPr lang="en-IN" dirty="0"/>
              <a:t>Optimization</a:t>
            </a:r>
            <a:endParaRPr spc="-1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83BEB-E8EF-0897-3FB8-16653CAB0CB3}"/>
              </a:ext>
            </a:extLst>
          </p:cNvPr>
          <p:cNvSpPr txBox="1"/>
          <p:nvPr/>
        </p:nvSpPr>
        <p:spPr>
          <a:xfrm>
            <a:off x="609600" y="1305342"/>
            <a:ext cx="4800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Objective: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To determine the optimal balance between the two modalities, an automated </a:t>
            </a:r>
            <a:r>
              <a:rPr lang="en-IN" b="1" dirty="0">
                <a:solidFill>
                  <a:schemeClr val="bg1"/>
                </a:solidFill>
              </a:rPr>
              <a:t>Bayesian hyperparameter search</a:t>
            </a:r>
            <a:r>
              <a:rPr lang="en-IN" dirty="0">
                <a:solidFill>
                  <a:schemeClr val="bg1"/>
                </a:solidFill>
              </a:rPr>
              <a:t> was conducted over </a:t>
            </a:r>
            <a:r>
              <a:rPr lang="en-IN" b="1" dirty="0">
                <a:solidFill>
                  <a:schemeClr val="bg1"/>
                </a:solidFill>
              </a:rPr>
              <a:t>5+ trials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r>
              <a:rPr lang="en-IN" b="1" dirty="0">
                <a:solidFill>
                  <a:schemeClr val="bg1"/>
                </a:solidFill>
              </a:rPr>
              <a:t>Search Space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Learning Rate:</a:t>
            </a:r>
            <a:r>
              <a:rPr lang="en-IN" dirty="0">
                <a:solidFill>
                  <a:schemeClr val="bg1"/>
                </a:solidFill>
              </a:rPr>
              <a:t> 1×10⁻⁵ – 5×10⁻⁴ </a:t>
            </a:r>
            <a:r>
              <a:rPr lang="en-IN" i="1" dirty="0">
                <a:solidFill>
                  <a:schemeClr val="bg1"/>
                </a:solidFill>
              </a:rPr>
              <a:t>(log scale)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Optimizers:</a:t>
            </a:r>
            <a:r>
              <a:rPr lang="en-IN" dirty="0">
                <a:solidFill>
                  <a:schemeClr val="bg1"/>
                </a:solidFill>
              </a:rPr>
              <a:t> Adam, SGD, </a:t>
            </a:r>
            <a:r>
              <a:rPr lang="en-IN" b="1" dirty="0" err="1">
                <a:solidFill>
                  <a:schemeClr val="bg1"/>
                </a:solidFill>
              </a:rPr>
              <a:t>AdamW</a:t>
            </a:r>
            <a:r>
              <a:rPr lang="en-IN" b="1" dirty="0">
                <a:solidFill>
                  <a:schemeClr val="bg1"/>
                </a:solidFill>
              </a:rPr>
              <a:t> (Best Performer)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Contrastive Loss Weight (</a:t>
            </a:r>
            <a:r>
              <a:rPr lang="el-GR" b="1" dirty="0">
                <a:solidFill>
                  <a:schemeClr val="bg1"/>
                </a:solidFill>
              </a:rPr>
              <a:t>λ₍</a:t>
            </a:r>
            <a:r>
              <a:rPr lang="en-IN" b="1" dirty="0">
                <a:solidFill>
                  <a:schemeClr val="bg1"/>
                </a:solidFill>
              </a:rPr>
              <a:t>cl₎):</a:t>
            </a:r>
            <a:r>
              <a:rPr lang="en-IN" dirty="0">
                <a:solidFill>
                  <a:schemeClr val="bg1"/>
                </a:solidFill>
              </a:rPr>
              <a:t> 0.5 – 5.0 to balance semantic alignment</a:t>
            </a:r>
          </a:p>
          <a:p>
            <a:r>
              <a:rPr lang="en-IN" b="1" dirty="0">
                <a:solidFill>
                  <a:schemeClr val="bg1"/>
                </a:solidFill>
              </a:rPr>
              <a:t>Regularization:</a:t>
            </a:r>
            <a:r>
              <a:rPr lang="en-IN" dirty="0">
                <a:solidFill>
                  <a:schemeClr val="bg1"/>
                </a:solidFill>
              </a:rPr>
              <a:t> Weight decay </a:t>
            </a:r>
            <a:r>
              <a:rPr lang="en-IN" i="1" dirty="0">
                <a:solidFill>
                  <a:schemeClr val="bg1"/>
                </a:solidFill>
              </a:rPr>
              <a:t>(1×10⁻⁴ – 0.1)</a:t>
            </a:r>
            <a:r>
              <a:rPr lang="en-IN" dirty="0">
                <a:solidFill>
                  <a:schemeClr val="bg1"/>
                </a:solidFill>
              </a:rPr>
              <a:t> to reduce overfitting</a:t>
            </a:r>
          </a:p>
          <a:p>
            <a:r>
              <a:rPr lang="en-IN" b="1" dirty="0">
                <a:solidFill>
                  <a:schemeClr val="bg1"/>
                </a:solidFill>
              </a:rPr>
              <a:t>Peak Pre-Deployment Performance (10-Class Encrypted Subset)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Average Accuracy:</a:t>
            </a:r>
            <a:r>
              <a:rPr lang="en-IN" dirty="0">
                <a:solidFill>
                  <a:schemeClr val="bg1"/>
                </a:solidFill>
              </a:rPr>
              <a:t> 80.49%</a:t>
            </a:r>
          </a:p>
          <a:p>
            <a:r>
              <a:rPr lang="en-IN" b="1" dirty="0">
                <a:solidFill>
                  <a:schemeClr val="bg1"/>
                </a:solidFill>
              </a:rPr>
              <a:t>Average Precision:</a:t>
            </a:r>
            <a:r>
              <a:rPr lang="en-IN" dirty="0">
                <a:solidFill>
                  <a:schemeClr val="bg1"/>
                </a:solidFill>
              </a:rPr>
              <a:t> 80.86%</a:t>
            </a:r>
          </a:p>
          <a:p>
            <a:r>
              <a:rPr lang="en-IN" b="1" dirty="0">
                <a:solidFill>
                  <a:schemeClr val="bg1"/>
                </a:solidFill>
              </a:rPr>
              <a:t>Average Macro F1 Score:</a:t>
            </a:r>
            <a:r>
              <a:rPr lang="en-IN" dirty="0">
                <a:solidFill>
                  <a:schemeClr val="bg1"/>
                </a:solidFill>
              </a:rPr>
              <a:t> 79.63%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F9998D-654E-C395-7F2F-8DBA3BAB1F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775" y="1305342"/>
            <a:ext cx="5791200" cy="5464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976" y="547242"/>
            <a:ext cx="845962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30" dirty="0"/>
              <a:t>V</a:t>
            </a:r>
            <a:r>
              <a:rPr dirty="0"/>
              <a:t>.</a:t>
            </a:r>
            <a:r>
              <a:rPr spc="-15" dirty="0"/>
              <a:t> </a:t>
            </a:r>
            <a:r>
              <a:rPr lang="en-IN" dirty="0"/>
              <a:t>Edge Optimization &amp; Performance</a:t>
            </a:r>
            <a:endParaRPr spc="-1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7EDBF98-651D-9791-3494-538E32D11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166972"/>
              </p:ext>
            </p:extLst>
          </p:nvPr>
        </p:nvGraphicFramePr>
        <p:xfrm>
          <a:off x="2438400" y="3810000"/>
          <a:ext cx="6553200" cy="237744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47511839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41825574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58862707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4095559160"/>
                    </a:ext>
                  </a:extLst>
                </a:gridCol>
              </a:tblGrid>
              <a:tr h="55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solidFill>
                            <a:schemeClr val="bg1"/>
                          </a:solidFill>
                        </a:rPr>
                        <a:t>PyTorch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(Baseline)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ONNX (Optimized)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Improvement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76865"/>
                  </a:ext>
                </a:extLst>
              </a:tr>
              <a:tr h="55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Macro F1 Score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0.8754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0.8754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No Accuracy Loss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972280"/>
                  </a:ext>
                </a:extLst>
              </a:tr>
              <a:tr h="31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Avg Latency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47.33 ms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34.08 ms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FF00"/>
                          </a:solidFill>
                        </a:rPr>
                        <a:t>1.39× Faster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073881"/>
                  </a:ext>
                </a:extLst>
              </a:tr>
              <a:tr h="31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P99 Latency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50.31 </a:t>
                      </a:r>
                      <a:r>
                        <a:rPr lang="en-IN" dirty="0" err="1">
                          <a:solidFill>
                            <a:schemeClr val="bg1"/>
                          </a:solidFill>
                        </a:rPr>
                        <a:t>ms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37.35 ms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FF00"/>
                          </a:solidFill>
                        </a:rPr>
                        <a:t>25% Reduction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503122"/>
                  </a:ext>
                </a:extLst>
              </a:tr>
              <a:tr h="31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Throughput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21.1 FPS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29.3 FPS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FF00"/>
                          </a:solidFill>
                        </a:rPr>
                        <a:t>+39% Higher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062346"/>
                  </a:ext>
                </a:extLst>
              </a:tr>
            </a:tbl>
          </a:graphicData>
        </a:graphic>
      </p:graphicFrame>
      <p:sp>
        <p:nvSpPr>
          <p:cNvPr id="16" name="Rectangle 5">
            <a:extLst>
              <a:ext uri="{FF2B5EF4-FFF2-40B4-BE49-F238E27FC236}">
                <a16:creationId xmlns:a16="http://schemas.microsoft.com/office/drawing/2014/main" id="{FE12E7D3-89A5-CA85-EF1B-A6C98754A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09" y="1317010"/>
            <a:ext cx="10059824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Optimize the model for real-time edge deployment while preserving classification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Why ONNX?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Unlike INT8 quantization (which dropped F1 to &lt;0.10 in earlier tests), ONNX preserves FP32 precision, maintaining the delicate bi-modal similarity manifold.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Graph Optimization: Achieved speedup through Operator Fusion and Constant Folding, eliminating Python runtime overhead without touching model weights.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Stability: P99 Latency reduction ensures the model is viable for Real-Time ISP-scale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Key Achievement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87.5% Macro F1 Score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while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reducing inference latency by ~14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per sample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Demonstrates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efficient edge deployment with zero accuracy degradation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35" dirty="0"/>
              <a:t>V</a:t>
            </a:r>
            <a:r>
              <a:rPr spc="-10" dirty="0"/>
              <a:t>.</a:t>
            </a:r>
            <a:r>
              <a:rPr spc="40" dirty="0"/>
              <a:t> </a:t>
            </a:r>
            <a:r>
              <a:rPr lang="en-IN" dirty="0"/>
              <a:t>Final Takeaways &amp; Conclusion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4131" y="1461897"/>
            <a:ext cx="9942195" cy="475899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algn="just">
              <a:lnSpc>
                <a:spcPts val="1730"/>
              </a:lnSpc>
              <a:spcBef>
                <a:spcPts val="310"/>
              </a:spcBef>
              <a:tabLst>
                <a:tab pos="241300" algn="l"/>
              </a:tabLst>
            </a:pPr>
            <a:endParaRPr lang="en-US" sz="1600" dirty="0">
              <a:solidFill>
                <a:srgbClr val="FFFFFF"/>
              </a:solidFill>
              <a:latin typeface="Segoe UI Semilight"/>
              <a:cs typeface="Segoe UI Semilight"/>
            </a:endParaRPr>
          </a:p>
          <a:p>
            <a:pPr marL="12700" marR="5080" algn="just">
              <a:lnSpc>
                <a:spcPts val="1730"/>
              </a:lnSpc>
              <a:spcBef>
                <a:spcPts val="310"/>
              </a:spcBef>
              <a:tabLst>
                <a:tab pos="241300" algn="l"/>
              </a:tabLst>
            </a:pPr>
            <a:r>
              <a:rPr lang="en-US" sz="1600" b="1" dirty="0">
                <a:solidFill>
                  <a:srgbClr val="FFFFFF"/>
                </a:solidFill>
                <a:latin typeface="Segoe UI Semilight"/>
                <a:cs typeface="Segoe UI Semilight"/>
              </a:rPr>
              <a:t>Key Insights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endParaRPr lang="en-US" sz="1600" dirty="0">
              <a:solidFill>
                <a:srgbClr val="FFFFFF"/>
              </a:solidFill>
              <a:latin typeface="Segoe UI Semilight"/>
              <a:cs typeface="Segoe UI Semilight"/>
            </a:endParaRP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lang="en-US"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Physics + Semantics = Precision: Behavioral traffic statistics act as the strongest differentiator for encrypted traffic classification.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lang="en-US" sz="1600" dirty="0" err="1">
                <a:solidFill>
                  <a:srgbClr val="FFFFFF"/>
                </a:solidFill>
                <a:latin typeface="Segoe UI Semilight"/>
                <a:cs typeface="Segoe UI Semilight"/>
              </a:rPr>
              <a:t>Deployability</a:t>
            </a:r>
            <a:r>
              <a:rPr lang="en-US"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 Matters: High accuracy alone is insufficient—efficient inference speed is critical for real-world deployment. ONNX enables practical edge deployment.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lang="en-US"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Scalability: Achieving 29.3 FPS on a standard CPU demonstrates that multimodal traffic classification can operate effectively in high-speed network environments.</a:t>
            </a:r>
          </a:p>
          <a:p>
            <a:pPr marL="12700" marR="5080" algn="just">
              <a:lnSpc>
                <a:spcPts val="1730"/>
              </a:lnSpc>
              <a:spcBef>
                <a:spcPts val="310"/>
              </a:spcBef>
              <a:tabLst>
                <a:tab pos="241300" algn="l"/>
              </a:tabLst>
            </a:pPr>
            <a:endParaRPr lang="en-US" sz="1600" b="1" dirty="0">
              <a:solidFill>
                <a:srgbClr val="FFFFFF"/>
              </a:solidFill>
              <a:latin typeface="Segoe UI Semilight"/>
              <a:cs typeface="Segoe UI Semilight"/>
            </a:endParaRPr>
          </a:p>
          <a:p>
            <a:pPr marL="12700" marR="5080" algn="just">
              <a:lnSpc>
                <a:spcPts val="1730"/>
              </a:lnSpc>
              <a:spcBef>
                <a:spcPts val="310"/>
              </a:spcBef>
              <a:tabLst>
                <a:tab pos="241300" algn="l"/>
              </a:tabLst>
            </a:pPr>
            <a:r>
              <a:rPr lang="en-US" sz="1600" b="1" dirty="0">
                <a:solidFill>
                  <a:srgbClr val="FFFFFF"/>
                </a:solidFill>
                <a:latin typeface="Segoe UI Semilight"/>
                <a:cs typeface="Segoe UI Semilight"/>
              </a:rPr>
              <a:t>Current System Performance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endParaRPr lang="en-US" sz="1600" dirty="0">
              <a:solidFill>
                <a:srgbClr val="FFFFFF"/>
              </a:solidFill>
              <a:latin typeface="Segoe UI Semilight"/>
              <a:cs typeface="Segoe UI Semilight"/>
            </a:endParaRP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lang="en-US"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 A robust encrypted traffic classification system achieving 87.5% Macro F1 Score.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lang="en-US"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 Optimized for low-latency inference on edge CPUs.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endParaRPr lang="en-US" sz="1600" dirty="0">
              <a:solidFill>
                <a:srgbClr val="FFFFFF"/>
              </a:solidFill>
              <a:latin typeface="Segoe UI Semilight"/>
              <a:cs typeface="Segoe UI Semilight"/>
            </a:endParaRPr>
          </a:p>
          <a:p>
            <a:pPr marL="12700" marR="5080" algn="just">
              <a:lnSpc>
                <a:spcPts val="1730"/>
              </a:lnSpc>
              <a:spcBef>
                <a:spcPts val="310"/>
              </a:spcBef>
              <a:tabLst>
                <a:tab pos="241300" algn="l"/>
              </a:tabLst>
            </a:pPr>
            <a:r>
              <a:rPr lang="en-US" sz="1600" b="1" dirty="0">
                <a:solidFill>
                  <a:srgbClr val="FFFFFF"/>
                </a:solidFill>
                <a:latin typeface="Segoe UI Semilight"/>
                <a:cs typeface="Segoe UI Semilight"/>
              </a:rPr>
              <a:t>Future Scope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endParaRPr lang="en-US" sz="1600" dirty="0">
              <a:solidFill>
                <a:srgbClr val="FFFFFF"/>
              </a:solidFill>
              <a:latin typeface="Segoe UI Semilight"/>
              <a:cs typeface="Segoe UI Semilight"/>
            </a:endParaRP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lang="en-US"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 Explore 1D-CNN based vision backbones to further reduce parameter size and improve efficiency.</a:t>
            </a:r>
          </a:p>
          <a:p>
            <a:pPr marL="241300" marR="508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lang="en-US" sz="1600" dirty="0">
                <a:solidFill>
                  <a:srgbClr val="FFFFFF"/>
                </a:solidFill>
                <a:latin typeface="Segoe UI Semilight"/>
                <a:cs typeface="Segoe UI Semilight"/>
              </a:rPr>
              <a:t> Evaluate system robustness against zero-day malware variants and unseen encrypted traffic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5070893"/>
          </a:xfrm>
        </p:spPr>
        <p:txBody>
          <a:bodyPr>
            <a:normAutofit/>
          </a:bodyPr>
          <a:lstStyle/>
          <a:p>
            <a:r>
              <a:rPr lang="en-US" dirty="0"/>
              <a:t>Thanks!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50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963</Words>
  <Application>Microsoft Office PowerPoint</Application>
  <PresentationFormat>Widescreen</PresentationFormat>
  <Paragraphs>159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Segoe UI</vt:lpstr>
      <vt:lpstr>Segoe UI Light</vt:lpstr>
      <vt:lpstr>Segoe UI Semilight</vt:lpstr>
      <vt:lpstr>Tw Cen MT</vt:lpstr>
      <vt:lpstr>Tw Cen MT Condensed</vt:lpstr>
      <vt:lpstr>Wingdings</vt:lpstr>
      <vt:lpstr>Wingdings 3</vt:lpstr>
      <vt:lpstr>Office Theme</vt:lpstr>
      <vt:lpstr>Integral</vt:lpstr>
      <vt:lpstr>TRAFFICCLIP OPTIMIZATION EDGE A HIGH-PERFORMANCE MULTIMODAL FRAMEWORK FOR ENCRYPTED TRAFFIC CLASSIFICATION</vt:lpstr>
      <vt:lpstr>Contents</vt:lpstr>
      <vt:lpstr>I. Project Overview</vt:lpstr>
      <vt:lpstr>II. Data Overview</vt:lpstr>
      <vt:lpstr>III. Data Acquisition &amp; Processing</vt:lpstr>
      <vt:lpstr>IV. Experimental Roadmap</vt:lpstr>
      <vt:lpstr>IV. Hyperparameter Optimization</vt:lpstr>
      <vt:lpstr>V. Edge Optimization &amp; Performance</vt:lpstr>
      <vt:lpstr>V. Final Takeaways &amp; 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sales success from INTRO callS</dc:title>
  <dc:creator>Mikiko Bazeley</dc:creator>
  <cp:lastModifiedBy>Pramit De</cp:lastModifiedBy>
  <cp:revision>18</cp:revision>
  <dcterms:created xsi:type="dcterms:W3CDTF">2026-03-07T04:38:09Z</dcterms:created>
  <dcterms:modified xsi:type="dcterms:W3CDTF">2026-03-12T16:12:38Z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